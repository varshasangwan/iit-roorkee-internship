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81" r:id="rId2"/>
    <p:sldId id="323" r:id="rId3"/>
    <p:sldId id="322" r:id="rId4"/>
    <p:sldId id="341" r:id="rId5"/>
    <p:sldId id="325" r:id="rId6"/>
    <p:sldId id="326" r:id="rId7"/>
    <p:sldId id="327" r:id="rId8"/>
    <p:sldId id="342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E0CD"/>
    <a:srgbClr val="DD442B"/>
    <a:srgbClr val="DEB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90" autoAdjust="0"/>
  </p:normalViewPr>
  <p:slideViewPr>
    <p:cSldViewPr snapToGrid="0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4E554D-2657-4787-8E8E-9D855E1A106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013EE-091C-4911-BFFD-167D89ACCE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69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kaggle.com/datasets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3600" b="1" dirty="0">
                <a:latin typeface="Georgia" pitchFamily="34" charset="0"/>
              </a:rPr>
              <a:t>Machine learning</a:t>
            </a:r>
            <a:endParaRPr lang="en-US" sz="36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Varsha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Sangwan</a:t>
            </a:r>
            <a:endParaRPr lang="en-US" sz="1467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of joining- 09-06-2026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04F1BF-46D8-4D3A-BEC3-2D5300F29875}"/>
              </a:ext>
            </a:extLst>
          </p:cNvPr>
          <p:cNvSpPr/>
          <p:nvPr/>
        </p:nvSpPr>
        <p:spPr>
          <a:xfrm>
            <a:off x="1073791" y="1115736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Introduction to Machine Learning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4460C7-514D-430C-B1DF-B27AA93D0CEC}"/>
              </a:ext>
            </a:extLst>
          </p:cNvPr>
          <p:cNvSpPr/>
          <p:nvPr/>
        </p:nvSpPr>
        <p:spPr>
          <a:xfrm>
            <a:off x="1073791" y="1723624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Data </a:t>
            </a:r>
            <a:r>
              <a:rPr lang="en-IN" dirty="0" err="1">
                <a:solidFill>
                  <a:schemeClr val="tx1"/>
                </a:solidFill>
              </a:rPr>
              <a:t>Preprocessing</a:t>
            </a:r>
            <a:r>
              <a:rPr lang="en-IN" dirty="0">
                <a:solidFill>
                  <a:schemeClr val="tx1"/>
                </a:solidFill>
              </a:rPr>
              <a:t> and EDA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C86224-3006-4C90-BC65-CE3EFCB3F29B}"/>
              </a:ext>
            </a:extLst>
          </p:cNvPr>
          <p:cNvSpPr/>
          <p:nvPr/>
        </p:nvSpPr>
        <p:spPr>
          <a:xfrm>
            <a:off x="1073791" y="2331512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Supervised Learning </a:t>
            </a:r>
            <a:r>
              <a:rPr lang="en-IN" dirty="0" err="1">
                <a:solidFill>
                  <a:schemeClr val="tx1"/>
                </a:solidFill>
              </a:rPr>
              <a:t>ALgorithms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068961-EDC7-4CA2-9484-081622BC848D}"/>
              </a:ext>
            </a:extLst>
          </p:cNvPr>
          <p:cNvSpPr/>
          <p:nvPr/>
        </p:nvSpPr>
        <p:spPr>
          <a:xfrm>
            <a:off x="1073791" y="2970421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Unsupervised Learning </a:t>
            </a:r>
            <a:r>
              <a:rPr lang="en-IN" dirty="0" err="1">
                <a:solidFill>
                  <a:schemeClr val="tx1"/>
                </a:solidFill>
              </a:rPr>
              <a:t>ALgorithms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530C83-F260-4D84-942D-68ADDD87F280}"/>
              </a:ext>
            </a:extLst>
          </p:cNvPr>
          <p:cNvSpPr/>
          <p:nvPr/>
        </p:nvSpPr>
        <p:spPr>
          <a:xfrm>
            <a:off x="1073791" y="3582013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Model Evaluation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F5B438-C6E3-42F3-BA26-39F454864B0B}"/>
              </a:ext>
            </a:extLst>
          </p:cNvPr>
          <p:cNvSpPr/>
          <p:nvPr/>
        </p:nvSpPr>
        <p:spPr>
          <a:xfrm>
            <a:off x="6762925" y="2953984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Machine Learning Capstone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B64EC7-CD44-4648-B884-9F9182B04A9D}"/>
              </a:ext>
            </a:extLst>
          </p:cNvPr>
          <p:cNvSpPr/>
          <p:nvPr/>
        </p:nvSpPr>
        <p:spPr>
          <a:xfrm>
            <a:off x="6762925" y="1115736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Model Tuning(Hyperparameter Tuning)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B3F2DD-C602-409D-8DFB-77B318E581AE}"/>
              </a:ext>
            </a:extLst>
          </p:cNvPr>
          <p:cNvSpPr/>
          <p:nvPr/>
        </p:nvSpPr>
        <p:spPr>
          <a:xfrm>
            <a:off x="6762925" y="1701223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Feature Engineering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90142E-B1C6-4899-805B-C78B8EFDD12C}"/>
              </a:ext>
            </a:extLst>
          </p:cNvPr>
          <p:cNvSpPr/>
          <p:nvPr/>
        </p:nvSpPr>
        <p:spPr>
          <a:xfrm>
            <a:off x="6762925" y="2324274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NLP(Natural language Processing)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AED1C6-C0F7-4D9D-B98A-C51E978D9DAA}"/>
              </a:ext>
            </a:extLst>
          </p:cNvPr>
          <p:cNvSpPr/>
          <p:nvPr/>
        </p:nvSpPr>
        <p:spPr>
          <a:xfrm>
            <a:off x="6762925" y="3594941"/>
            <a:ext cx="4085438" cy="3942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  Future work and References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112F88-067D-4A0A-8187-3BD6A227676A}"/>
              </a:ext>
            </a:extLst>
          </p:cNvPr>
          <p:cNvSpPr/>
          <p:nvPr/>
        </p:nvSpPr>
        <p:spPr>
          <a:xfrm>
            <a:off x="711946" y="1070776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C7746C0-D090-46FC-9618-393285F22602}"/>
              </a:ext>
            </a:extLst>
          </p:cNvPr>
          <p:cNvSpPr/>
          <p:nvPr/>
        </p:nvSpPr>
        <p:spPr>
          <a:xfrm>
            <a:off x="711946" y="1652007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5EDD0E-32C4-4D5A-801F-DC7CBD561949}"/>
              </a:ext>
            </a:extLst>
          </p:cNvPr>
          <p:cNvSpPr/>
          <p:nvPr/>
        </p:nvSpPr>
        <p:spPr>
          <a:xfrm>
            <a:off x="711946" y="2287202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06D855-C6B1-4A60-A94F-97C8E2B82FC1}"/>
              </a:ext>
            </a:extLst>
          </p:cNvPr>
          <p:cNvSpPr/>
          <p:nvPr/>
        </p:nvSpPr>
        <p:spPr>
          <a:xfrm>
            <a:off x="711387" y="2896869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1C82600-F53F-4626-9C5E-3D3957919FD1}"/>
              </a:ext>
            </a:extLst>
          </p:cNvPr>
          <p:cNvSpPr/>
          <p:nvPr/>
        </p:nvSpPr>
        <p:spPr>
          <a:xfrm>
            <a:off x="711387" y="3510956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15CB9EF-5699-485C-9213-03AC187853C1}"/>
              </a:ext>
            </a:extLst>
          </p:cNvPr>
          <p:cNvSpPr/>
          <p:nvPr/>
        </p:nvSpPr>
        <p:spPr>
          <a:xfrm>
            <a:off x="6367524" y="1070776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B27EE5E-BC7D-4920-BAD7-BE45B5AE7D85}"/>
              </a:ext>
            </a:extLst>
          </p:cNvPr>
          <p:cNvSpPr/>
          <p:nvPr/>
        </p:nvSpPr>
        <p:spPr>
          <a:xfrm>
            <a:off x="6367524" y="1642473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0CB4DDB-A5B2-433D-B363-1F700E0BE1B7}"/>
              </a:ext>
            </a:extLst>
          </p:cNvPr>
          <p:cNvSpPr/>
          <p:nvPr/>
        </p:nvSpPr>
        <p:spPr>
          <a:xfrm>
            <a:off x="6367524" y="2258712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00B06F-BFB8-448D-B35A-A5CFB7C74AA1}"/>
              </a:ext>
            </a:extLst>
          </p:cNvPr>
          <p:cNvSpPr/>
          <p:nvPr/>
        </p:nvSpPr>
        <p:spPr>
          <a:xfrm>
            <a:off x="6367524" y="3571151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  <a:p>
            <a:pPr algn="ctr"/>
            <a:r>
              <a:rPr lang="en-IN" sz="1400" dirty="0"/>
              <a:t>10</a:t>
            </a:r>
            <a:r>
              <a:rPr lang="en-IN" dirty="0"/>
              <a:t>..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C298727-6C39-4717-944E-FAC7EACE77CF}"/>
              </a:ext>
            </a:extLst>
          </p:cNvPr>
          <p:cNvSpPr/>
          <p:nvPr/>
        </p:nvSpPr>
        <p:spPr>
          <a:xfrm>
            <a:off x="6367524" y="2927577"/>
            <a:ext cx="538014" cy="48656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E03F80-9EC2-4537-B52A-C76EA9937703}"/>
              </a:ext>
            </a:extLst>
          </p:cNvPr>
          <p:cNvSpPr/>
          <p:nvPr/>
        </p:nvSpPr>
        <p:spPr>
          <a:xfrm>
            <a:off x="4487333" y="1011941"/>
            <a:ext cx="2937934" cy="1397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F952E-130F-4E30-86E2-9170A305B03B}"/>
              </a:ext>
            </a:extLst>
          </p:cNvPr>
          <p:cNvSpPr txBox="1"/>
          <p:nvPr/>
        </p:nvSpPr>
        <p:spPr>
          <a:xfrm>
            <a:off x="4487333" y="1011941"/>
            <a:ext cx="28617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Machine Learning(ML):</a:t>
            </a:r>
          </a:p>
          <a:p>
            <a:pPr algn="ctr"/>
            <a:r>
              <a:rPr lang="en-US" sz="1400" b="1" dirty="0"/>
              <a:t> is a branch of Artificial Intelligence that allows computers to learn from data, identify patterns, and make predictions or decisions without being explicitly programmed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A88E9EBF-CB2D-4B7E-AC12-CF12CB103288}"/>
              </a:ext>
            </a:extLst>
          </p:cNvPr>
          <p:cNvSpPr/>
          <p:nvPr/>
        </p:nvSpPr>
        <p:spPr>
          <a:xfrm>
            <a:off x="5414432" y="2408941"/>
            <a:ext cx="541867" cy="1446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urved Right 11">
            <a:extLst>
              <a:ext uri="{FF2B5EF4-FFF2-40B4-BE49-F238E27FC236}">
                <a16:creationId xmlns:a16="http://schemas.microsoft.com/office/drawing/2014/main" id="{0EB00453-AE7E-49AA-8712-D3830F9BE3F6}"/>
              </a:ext>
            </a:extLst>
          </p:cNvPr>
          <p:cNvSpPr/>
          <p:nvPr/>
        </p:nvSpPr>
        <p:spPr>
          <a:xfrm>
            <a:off x="5964769" y="2433716"/>
            <a:ext cx="541867" cy="1397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116940-13CD-47D9-9581-D2494C8FBC28}"/>
              </a:ext>
            </a:extLst>
          </p:cNvPr>
          <p:cNvSpPr/>
          <p:nvPr/>
        </p:nvSpPr>
        <p:spPr>
          <a:xfrm>
            <a:off x="4301067" y="3361267"/>
            <a:ext cx="1113365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Types of machine learning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A765AF-CADC-449D-A6EE-421835CF4A25}"/>
              </a:ext>
            </a:extLst>
          </p:cNvPr>
          <p:cNvSpPr/>
          <p:nvPr/>
        </p:nvSpPr>
        <p:spPr>
          <a:xfrm>
            <a:off x="6527797" y="3354915"/>
            <a:ext cx="1176862" cy="8382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ML workflow </a:t>
            </a:r>
            <a:r>
              <a:rPr lang="en-IN" dirty="0" err="1">
                <a:solidFill>
                  <a:schemeClr val="tx1"/>
                </a:solidFill>
              </a:rPr>
              <a:t>overivew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1A153D51-0E34-417F-B651-DF59C1C8803E}"/>
              </a:ext>
            </a:extLst>
          </p:cNvPr>
          <p:cNvSpPr/>
          <p:nvPr/>
        </p:nvSpPr>
        <p:spPr>
          <a:xfrm>
            <a:off x="2227784" y="1851810"/>
            <a:ext cx="1835156" cy="1143000"/>
          </a:xfrm>
          <a:prstGeom prst="round2Diag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SUPERVISED  LEARNING  </a:t>
            </a:r>
          </a:p>
          <a:p>
            <a:pPr algn="ctr"/>
            <a:r>
              <a:rPr lang="en-IN" sz="1100" b="1" dirty="0">
                <a:solidFill>
                  <a:schemeClr val="tx2">
                    <a:lumMod val="75000"/>
                  </a:schemeClr>
                </a:solidFill>
              </a:rPr>
              <a:t>Learning with labels. Mapping inputs(features)</a:t>
            </a:r>
          </a:p>
          <a:p>
            <a:pPr algn="ctr"/>
            <a:r>
              <a:rPr lang="en-IN" sz="1100" b="1" dirty="0">
                <a:solidFill>
                  <a:schemeClr val="tx2">
                    <a:lumMod val="75000"/>
                  </a:schemeClr>
                </a:solidFill>
              </a:rPr>
              <a:t>to known outputs(labels)for training</a:t>
            </a:r>
          </a:p>
          <a:p>
            <a:pPr algn="ctr"/>
            <a:endParaRPr lang="en-IN" sz="1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Rectangle: Diagonal Corners Rounded 17">
            <a:extLst>
              <a:ext uri="{FF2B5EF4-FFF2-40B4-BE49-F238E27FC236}">
                <a16:creationId xmlns:a16="http://schemas.microsoft.com/office/drawing/2014/main" id="{78EFDF19-7D52-4648-BE8E-D6708591E244}"/>
              </a:ext>
            </a:extLst>
          </p:cNvPr>
          <p:cNvSpPr/>
          <p:nvPr/>
        </p:nvSpPr>
        <p:spPr>
          <a:xfrm>
            <a:off x="2227784" y="3297202"/>
            <a:ext cx="1835156" cy="1143000"/>
          </a:xfrm>
          <a:prstGeom prst="round2Diag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  <a:p>
            <a:pPr algn="ctr"/>
            <a:endParaRPr lang="en-IN" sz="1100" b="1" dirty="0">
              <a:solidFill>
                <a:schemeClr val="tx1"/>
              </a:solidFill>
            </a:endParaRPr>
          </a:p>
          <a:p>
            <a:pPr algn="ctr"/>
            <a:r>
              <a:rPr lang="en-IN" sz="1100" b="1" dirty="0">
                <a:solidFill>
                  <a:schemeClr val="tx1"/>
                </a:solidFill>
              </a:rPr>
              <a:t>UNSUPERVISED LEARNING</a:t>
            </a:r>
          </a:p>
          <a:p>
            <a:pPr algn="ctr"/>
            <a:r>
              <a:rPr lang="en-IN" sz="1100" b="1" dirty="0">
                <a:solidFill>
                  <a:schemeClr val="tx2">
                    <a:lumMod val="75000"/>
                  </a:schemeClr>
                </a:solidFill>
              </a:rPr>
              <a:t>Learning without labels.</a:t>
            </a:r>
          </a:p>
          <a:p>
            <a:pPr algn="ctr"/>
            <a:r>
              <a:rPr lang="en-IN" sz="1100" b="1" dirty="0">
                <a:solidFill>
                  <a:schemeClr val="tx2">
                    <a:lumMod val="75000"/>
                  </a:schemeClr>
                </a:solidFill>
              </a:rPr>
              <a:t>Discovering hidden structures and patterns in the data</a:t>
            </a:r>
          </a:p>
          <a:p>
            <a:pPr algn="ctr"/>
            <a:endParaRPr lang="en-IN" sz="1100" b="1" dirty="0">
              <a:solidFill>
                <a:schemeClr val="tx1"/>
              </a:solidFill>
            </a:endParaRPr>
          </a:p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BF0E457B-23B5-44D6-B20F-27FDA4A7561F}"/>
              </a:ext>
            </a:extLst>
          </p:cNvPr>
          <p:cNvSpPr/>
          <p:nvPr/>
        </p:nvSpPr>
        <p:spPr>
          <a:xfrm>
            <a:off x="2227784" y="4742594"/>
            <a:ext cx="1835156" cy="1143000"/>
          </a:xfrm>
          <a:prstGeom prst="round2Diag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00" b="1" dirty="0">
              <a:solidFill>
                <a:schemeClr val="tx1"/>
              </a:solidFill>
            </a:endParaRPr>
          </a:p>
          <a:p>
            <a:pPr algn="ctr"/>
            <a:r>
              <a:rPr lang="en-IN" sz="1100" b="1" dirty="0">
                <a:solidFill>
                  <a:schemeClr val="tx1"/>
                </a:solidFill>
              </a:rPr>
              <a:t>REINFORCEMENT LEARNING</a:t>
            </a:r>
          </a:p>
          <a:p>
            <a:pPr algn="ctr"/>
            <a:r>
              <a:rPr lang="en-IN" sz="1100" b="1" dirty="0">
                <a:solidFill>
                  <a:schemeClr val="tx2">
                    <a:lumMod val="75000"/>
                  </a:schemeClr>
                </a:solidFill>
              </a:rPr>
              <a:t>Learning by interaction .</a:t>
            </a:r>
          </a:p>
          <a:p>
            <a:pPr algn="ctr"/>
            <a:r>
              <a:rPr lang="en-IN" sz="1100" b="1" dirty="0">
                <a:solidFill>
                  <a:schemeClr val="tx2">
                    <a:lumMod val="75000"/>
                  </a:schemeClr>
                </a:solidFill>
              </a:rPr>
              <a:t>Agent receives rewards or penalties for actions to optimize long term goals </a:t>
            </a:r>
          </a:p>
          <a:p>
            <a:pPr algn="ctr"/>
            <a:endParaRPr lang="en-IN" sz="1100" b="1" dirty="0">
              <a:solidFill>
                <a:schemeClr val="tx1"/>
              </a:solidFill>
            </a:endParaRPr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C2B09248-EC22-4E77-91C5-A847855DFA58}"/>
              </a:ext>
            </a:extLst>
          </p:cNvPr>
          <p:cNvSpPr/>
          <p:nvPr/>
        </p:nvSpPr>
        <p:spPr>
          <a:xfrm rot="10800000">
            <a:off x="4104792" y="4379789"/>
            <a:ext cx="541867" cy="77095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FC6294F9-AC0E-4E09-A765-11F10A47C12A}"/>
              </a:ext>
            </a:extLst>
          </p:cNvPr>
          <p:cNvSpPr/>
          <p:nvPr/>
        </p:nvSpPr>
        <p:spPr>
          <a:xfrm>
            <a:off x="4104792" y="2588464"/>
            <a:ext cx="529646" cy="636478"/>
          </a:xfrm>
          <a:prstGeom prst="bentArrow">
            <a:avLst/>
          </a:prstGeom>
          <a:scene3d>
            <a:camera prst="orthographicFront">
              <a:rot lat="0" lon="10799977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0AF98709-DCC4-4EC7-8DAE-812AE291BC3D}"/>
              </a:ext>
            </a:extLst>
          </p:cNvPr>
          <p:cNvSpPr/>
          <p:nvPr/>
        </p:nvSpPr>
        <p:spPr>
          <a:xfrm>
            <a:off x="4062940" y="3722725"/>
            <a:ext cx="212742" cy="1993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A411D48-CD6E-4986-A148-59FE086705ED}"/>
              </a:ext>
            </a:extLst>
          </p:cNvPr>
          <p:cNvSpPr/>
          <p:nvPr/>
        </p:nvSpPr>
        <p:spPr>
          <a:xfrm>
            <a:off x="748144" y="1443736"/>
            <a:ext cx="1267443" cy="609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Classification</a:t>
            </a:r>
          </a:p>
          <a:p>
            <a:pPr algn="ctr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Predicting categories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2C5FBE4-02FB-4605-AFB0-5236A9D52A96}"/>
              </a:ext>
            </a:extLst>
          </p:cNvPr>
          <p:cNvSpPr/>
          <p:nvPr/>
        </p:nvSpPr>
        <p:spPr>
          <a:xfrm>
            <a:off x="748144" y="2374733"/>
            <a:ext cx="1267443" cy="609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Regression</a:t>
            </a:r>
          </a:p>
          <a:p>
            <a:pPr algn="ctr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Predicting numbers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051E6F0-1F78-4B5C-84AE-3A2DB5B643F7}"/>
              </a:ext>
            </a:extLst>
          </p:cNvPr>
          <p:cNvSpPr/>
          <p:nvPr/>
        </p:nvSpPr>
        <p:spPr>
          <a:xfrm>
            <a:off x="754685" y="3304008"/>
            <a:ext cx="1267443" cy="609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1"/>
                </a:solidFill>
              </a:rPr>
              <a:t>Clustering</a:t>
            </a:r>
          </a:p>
          <a:p>
            <a:pPr algn="ctr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Grouping data</a:t>
            </a:r>
          </a:p>
          <a:p>
            <a:pPr algn="ctr"/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3BA06B-EA6B-4E70-BCCD-44CB807D5137}"/>
              </a:ext>
            </a:extLst>
          </p:cNvPr>
          <p:cNvSpPr/>
          <p:nvPr/>
        </p:nvSpPr>
        <p:spPr>
          <a:xfrm>
            <a:off x="754685" y="4091887"/>
            <a:ext cx="1267443" cy="609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Dimensionality reduction</a:t>
            </a:r>
          </a:p>
        </p:txBody>
      </p:sp>
      <p:sp>
        <p:nvSpPr>
          <p:cNvPr id="30" name="Arrow: Bent 29">
            <a:extLst>
              <a:ext uri="{FF2B5EF4-FFF2-40B4-BE49-F238E27FC236}">
                <a16:creationId xmlns:a16="http://schemas.microsoft.com/office/drawing/2014/main" id="{CBA4658C-16B8-4514-9B54-062F9AE5EA86}"/>
              </a:ext>
            </a:extLst>
          </p:cNvPr>
          <p:cNvSpPr/>
          <p:nvPr/>
        </p:nvSpPr>
        <p:spPr>
          <a:xfrm>
            <a:off x="2022128" y="1530903"/>
            <a:ext cx="529646" cy="304342"/>
          </a:xfrm>
          <a:prstGeom prst="bentArrow">
            <a:avLst>
              <a:gd name="adj1" fmla="val 25000"/>
              <a:gd name="adj2" fmla="val 28035"/>
              <a:gd name="adj3" fmla="val 25000"/>
              <a:gd name="adj4" fmla="val 43750"/>
            </a:avLst>
          </a:prstGeom>
          <a:scene3d>
            <a:camera prst="orthographicFront">
              <a:rot lat="0" lon="10799977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Arrow: Left 31">
            <a:extLst>
              <a:ext uri="{FF2B5EF4-FFF2-40B4-BE49-F238E27FC236}">
                <a16:creationId xmlns:a16="http://schemas.microsoft.com/office/drawing/2014/main" id="{E8E103F2-6EA5-441A-BC3F-EFB217609B6D}"/>
              </a:ext>
            </a:extLst>
          </p:cNvPr>
          <p:cNvSpPr/>
          <p:nvPr/>
        </p:nvSpPr>
        <p:spPr>
          <a:xfrm>
            <a:off x="2006572" y="2592789"/>
            <a:ext cx="212742" cy="1993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Arrow: Left 32">
            <a:extLst>
              <a:ext uri="{FF2B5EF4-FFF2-40B4-BE49-F238E27FC236}">
                <a16:creationId xmlns:a16="http://schemas.microsoft.com/office/drawing/2014/main" id="{06E87B1C-D97E-4E5A-9C7B-85F191EB2517}"/>
              </a:ext>
            </a:extLst>
          </p:cNvPr>
          <p:cNvSpPr/>
          <p:nvPr/>
        </p:nvSpPr>
        <p:spPr>
          <a:xfrm>
            <a:off x="2015042" y="3515053"/>
            <a:ext cx="212742" cy="1993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20D8431A-A6E7-45FA-A792-A1345162278A}"/>
              </a:ext>
            </a:extLst>
          </p:cNvPr>
          <p:cNvSpPr/>
          <p:nvPr/>
        </p:nvSpPr>
        <p:spPr>
          <a:xfrm>
            <a:off x="2015042" y="4228419"/>
            <a:ext cx="212742" cy="1993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0C4E4A3-E220-4C02-B226-C362DB464B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900" y="1397583"/>
            <a:ext cx="4042226" cy="4632908"/>
          </a:xfrm>
          <a:prstGeom prst="rect">
            <a:avLst/>
          </a:prstGeom>
        </p:spPr>
      </p:pic>
      <p:sp>
        <p:nvSpPr>
          <p:cNvPr id="39" name="Arrow: Striped Right 38">
            <a:extLst>
              <a:ext uri="{FF2B5EF4-FFF2-40B4-BE49-F238E27FC236}">
                <a16:creationId xmlns:a16="http://schemas.microsoft.com/office/drawing/2014/main" id="{6BDC3623-63B7-4D5F-BB32-14D6E35D1195}"/>
              </a:ext>
            </a:extLst>
          </p:cNvPr>
          <p:cNvSpPr/>
          <p:nvPr/>
        </p:nvSpPr>
        <p:spPr>
          <a:xfrm>
            <a:off x="7790415" y="3608808"/>
            <a:ext cx="649264" cy="246683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F97FBB-763B-419E-AD1A-6FB462781A43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and EDA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9979A-ACFE-4DF2-9241-93EC1F8F7506}"/>
              </a:ext>
            </a:extLst>
          </p:cNvPr>
          <p:cNvSpPr txBox="1"/>
          <p:nvPr/>
        </p:nvSpPr>
        <p:spPr>
          <a:xfrm>
            <a:off x="435685" y="1052945"/>
            <a:ext cx="11599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Data </a:t>
            </a:r>
            <a:r>
              <a:rPr lang="en-IN" b="1" dirty="0" err="1">
                <a:solidFill>
                  <a:schemeClr val="tx2">
                    <a:lumMod val="75000"/>
                  </a:schemeClr>
                </a:solidFill>
              </a:rPr>
              <a:t>preprocessing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- 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it  is about transforming valid data into a usable format</a:t>
            </a:r>
          </a:p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EDA(</a:t>
            </a:r>
            <a:r>
              <a:rPr lang="en-IN" b="1" dirty="0" err="1">
                <a:solidFill>
                  <a:schemeClr val="tx2">
                    <a:lumMod val="75000"/>
                  </a:schemeClr>
                </a:solidFill>
              </a:rPr>
              <a:t>Exloratory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Data </a:t>
            </a:r>
            <a:r>
              <a:rPr lang="en-IN" b="1" dirty="0" err="1">
                <a:solidFill>
                  <a:schemeClr val="tx2">
                    <a:lumMod val="75000"/>
                  </a:schemeClr>
                </a:solidFill>
              </a:rPr>
              <a:t>Aanaysis</a:t>
            </a: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)-</a:t>
            </a:r>
            <a:r>
              <a:rPr lang="en-IN" dirty="0"/>
              <a:t>It’s the step where you explore the data to </a:t>
            </a:r>
            <a:r>
              <a:rPr lang="en-IN" dirty="0" err="1"/>
              <a:t>understandit,discover</a:t>
            </a:r>
            <a:r>
              <a:rPr lang="en-IN" dirty="0"/>
              <a:t> </a:t>
            </a:r>
            <a:r>
              <a:rPr lang="en-IN" dirty="0" err="1"/>
              <a:t>patterns,spot</a:t>
            </a:r>
            <a:r>
              <a:rPr lang="en-IN" dirty="0"/>
              <a:t> </a:t>
            </a:r>
            <a:r>
              <a:rPr lang="en-IN" dirty="0" err="1"/>
              <a:t>anomlies</a:t>
            </a:r>
            <a:r>
              <a:rPr lang="en-IN" dirty="0"/>
              <a:t> ,generate insights and decide what to do next.</a:t>
            </a:r>
          </a:p>
        </p:txBody>
      </p:sp>
      <p:pic>
        <p:nvPicPr>
          <p:cNvPr id="11" name="Graphic 10" descr="Sign Language">
            <a:extLst>
              <a:ext uri="{FF2B5EF4-FFF2-40B4-BE49-F238E27FC236}">
                <a16:creationId xmlns:a16="http://schemas.microsoft.com/office/drawing/2014/main" id="{05B06327-45B6-45BF-9CE2-673C39410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2067668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0D3939-7D99-494D-AA1F-6B6E2B5F4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79" y="3261179"/>
            <a:ext cx="1024759" cy="914400"/>
          </a:xfrm>
          <a:prstGeom prst="rect">
            <a:avLst/>
          </a:prstGeom>
        </p:spPr>
      </p:pic>
      <p:pic>
        <p:nvPicPr>
          <p:cNvPr id="14" name="Graphic 13" descr="Scales of justice">
            <a:extLst>
              <a:ext uri="{FF2B5EF4-FFF2-40B4-BE49-F238E27FC236}">
                <a16:creationId xmlns:a16="http://schemas.microsoft.com/office/drawing/2014/main" id="{03A5CF96-B168-4AB3-A52C-04DDCC98C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538" y="4340025"/>
            <a:ext cx="914400" cy="914400"/>
          </a:xfrm>
          <a:prstGeom prst="rect">
            <a:avLst/>
          </a:prstGeom>
        </p:spPr>
      </p:pic>
      <p:pic>
        <p:nvPicPr>
          <p:cNvPr id="16" name="Graphic 15" descr="Scissors">
            <a:extLst>
              <a:ext uri="{FF2B5EF4-FFF2-40B4-BE49-F238E27FC236}">
                <a16:creationId xmlns:a16="http://schemas.microsoft.com/office/drawing/2014/main" id="{CD220560-E947-47DD-8902-313EE1F9E7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538" y="5431543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A461143-6AC8-460E-8A15-2E773C871D54}"/>
              </a:ext>
            </a:extLst>
          </p:cNvPr>
          <p:cNvSpPr txBox="1"/>
          <p:nvPr/>
        </p:nvSpPr>
        <p:spPr>
          <a:xfrm>
            <a:off x="2387600" y="2112502"/>
            <a:ext cx="63638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Handling missing values: </a:t>
            </a:r>
          </a:p>
          <a:p>
            <a:pPr marL="342900" indent="-342900">
              <a:buAutoNum type="arabicPeriod"/>
            </a:pPr>
            <a:r>
              <a:rPr lang="en-US" sz="1600" dirty="0"/>
              <a:t>Deletion (Dropping the Data)     </a:t>
            </a:r>
            <a:r>
              <a:rPr lang="en-US" sz="1600" dirty="0" err="1"/>
              <a:t>dropna</a:t>
            </a:r>
            <a:r>
              <a:rPr lang="en-US" sz="1600" dirty="0"/>
              <a:t>()</a:t>
            </a:r>
          </a:p>
          <a:p>
            <a:pPr marL="342900" indent="-342900">
              <a:buAutoNum type="arabicPeriod"/>
            </a:pPr>
            <a:r>
              <a:rPr lang="en-US" sz="1600" dirty="0"/>
              <a:t>Basic Imputation (Filling the Blanks)</a:t>
            </a:r>
            <a:r>
              <a:rPr lang="en-IN" sz="1600" dirty="0"/>
              <a:t>    </a:t>
            </a:r>
            <a:r>
              <a:rPr lang="en-IN" sz="1600" dirty="0" err="1"/>
              <a:t>fillna</a:t>
            </a:r>
            <a:r>
              <a:rPr lang="en-IN" sz="1600" dirty="0"/>
              <a:t>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A0781E-95FB-4C14-B37F-C7EF0F2DD715}"/>
              </a:ext>
            </a:extLst>
          </p:cNvPr>
          <p:cNvSpPr txBox="1"/>
          <p:nvPr/>
        </p:nvSpPr>
        <p:spPr>
          <a:xfrm>
            <a:off x="2387600" y="3261179"/>
            <a:ext cx="69734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Encoding categorical values : </a:t>
            </a:r>
            <a:r>
              <a:rPr lang="en-IN" dirty="0"/>
              <a:t>convert text labels into numbers</a:t>
            </a:r>
          </a:p>
          <a:p>
            <a:r>
              <a:rPr lang="en-IN" sz="1600" dirty="0"/>
              <a:t>1.Label Encoding </a:t>
            </a:r>
          </a:p>
          <a:p>
            <a:r>
              <a:rPr lang="en-IN" sz="1600" dirty="0"/>
              <a:t>2.One-Hot Encoding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37EFB4-3D8B-4535-805B-A6E55461848C}"/>
              </a:ext>
            </a:extLst>
          </p:cNvPr>
          <p:cNvSpPr txBox="1"/>
          <p:nvPr/>
        </p:nvSpPr>
        <p:spPr>
          <a:xfrm>
            <a:off x="2387600" y="4365449"/>
            <a:ext cx="58004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 scaling: </a:t>
            </a:r>
            <a:r>
              <a:rPr lang="en-IN" sz="1600" dirty="0"/>
              <a:t>Bring numerical values to the same scale</a:t>
            </a:r>
            <a:endParaRPr lang="en-IN" dirty="0"/>
          </a:p>
          <a:p>
            <a:r>
              <a:rPr lang="en-IN" sz="1600" dirty="0"/>
              <a:t>1.Normalization (</a:t>
            </a:r>
            <a:r>
              <a:rPr lang="en-IN" sz="1600" dirty="0" err="1"/>
              <a:t>MinMax</a:t>
            </a:r>
            <a:r>
              <a:rPr lang="en-IN" sz="1600" dirty="0"/>
              <a:t> _Scaler)</a:t>
            </a:r>
          </a:p>
          <a:p>
            <a:r>
              <a:rPr lang="en-IN" sz="1600" dirty="0"/>
              <a:t>2.Standardization(</a:t>
            </a:r>
            <a:r>
              <a:rPr lang="en-IN" sz="1600" dirty="0" err="1"/>
              <a:t>Standard_Scaler</a:t>
            </a:r>
            <a:r>
              <a:rPr lang="en-IN" sz="1600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A13AA-2A6D-4A7D-BD00-5BBD908A3384}"/>
              </a:ext>
            </a:extLst>
          </p:cNvPr>
          <p:cNvSpPr txBox="1"/>
          <p:nvPr/>
        </p:nvSpPr>
        <p:spPr>
          <a:xfrm>
            <a:off x="2387600" y="5471422"/>
            <a:ext cx="68903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Train-test split:</a:t>
            </a:r>
            <a:r>
              <a:rPr lang="en-US" dirty="0"/>
              <a:t> </a:t>
            </a:r>
            <a:r>
              <a:rPr lang="en-US" sz="1600" dirty="0"/>
              <a:t>is a technique used to evaluate the performance of a machine learning model. It involves taking your single master dataset and dividing it into two separate subsets: one to build the model, and one to test it.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1E67D1-B41C-4A80-A60D-1BCC53725AFB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</a:t>
            </a:r>
          </a:p>
        </p:txBody>
      </p:sp>
    </p:spTree>
    <p:extLst>
      <p:ext uri="{BB962C8B-B14F-4D97-AF65-F5344CB8AC3E}">
        <p14:creationId xmlns:p14="http://schemas.microsoft.com/office/powerpoint/2010/main" val="1248611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algorithms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1CE9D0-DFE0-427C-BD89-1B95FF1F759E}"/>
              </a:ext>
            </a:extLst>
          </p:cNvPr>
          <p:cNvSpPr/>
          <p:nvPr/>
        </p:nvSpPr>
        <p:spPr>
          <a:xfrm>
            <a:off x="435685" y="1071418"/>
            <a:ext cx="5329382" cy="5221410"/>
          </a:xfrm>
          <a:prstGeom prst="roundRect">
            <a:avLst/>
          </a:prstGeom>
          <a:solidFill>
            <a:srgbClr val="A4E0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Linear regression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Predict a numerical value by finding the best fitting straight line</a:t>
            </a:r>
            <a:r>
              <a:rPr lang="en-IN" sz="1600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This is used for regression</a:t>
            </a:r>
          </a:p>
          <a:p>
            <a:pPr algn="ctr"/>
            <a:r>
              <a:rPr lang="en-IN" sz="1600" b="1" dirty="0" err="1">
                <a:solidFill>
                  <a:schemeClr val="tx1"/>
                </a:solidFill>
              </a:rPr>
              <a:t>Regresion</a:t>
            </a:r>
            <a:r>
              <a:rPr lang="en-IN" sz="1600" b="1" dirty="0">
                <a:solidFill>
                  <a:schemeClr val="tx1"/>
                </a:solidFill>
              </a:rPr>
              <a:t> line </a:t>
            </a:r>
            <a:r>
              <a:rPr lang="en-IN" sz="1600" b="1" dirty="0" err="1">
                <a:solidFill>
                  <a:schemeClr val="tx1"/>
                </a:solidFill>
              </a:rPr>
              <a:t>eqn</a:t>
            </a:r>
            <a:r>
              <a:rPr lang="en-IN" sz="1600" b="1" dirty="0">
                <a:solidFill>
                  <a:schemeClr val="tx1"/>
                </a:solidFill>
              </a:rPr>
              <a:t>: y=</a:t>
            </a:r>
            <a:r>
              <a:rPr lang="en-IN" sz="1600" b="1" dirty="0" err="1">
                <a:solidFill>
                  <a:schemeClr val="tx1"/>
                </a:solidFill>
              </a:rPr>
              <a:t>mx+c</a:t>
            </a:r>
            <a:endParaRPr lang="en-IN" sz="1600" b="1" dirty="0">
              <a:solidFill>
                <a:schemeClr val="tx1"/>
              </a:solidFill>
            </a:endParaRPr>
          </a:p>
          <a:p>
            <a:pPr algn="ctr"/>
            <a:r>
              <a:rPr lang="en-IN" dirty="0" err="1">
                <a:solidFill>
                  <a:schemeClr val="accent1">
                    <a:lumMod val="75000"/>
                  </a:schemeClr>
                </a:solidFill>
              </a:rPr>
              <a:t>Example:House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price prediction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D0668D-5315-4E44-B6BC-AD439AEE7B2A}"/>
              </a:ext>
            </a:extLst>
          </p:cNvPr>
          <p:cNvSpPr/>
          <p:nvPr/>
        </p:nvSpPr>
        <p:spPr>
          <a:xfrm>
            <a:off x="6163916" y="1071418"/>
            <a:ext cx="5329382" cy="5221410"/>
          </a:xfrm>
          <a:prstGeom prst="roundRect">
            <a:avLst/>
          </a:prstGeom>
          <a:solidFill>
            <a:srgbClr val="A4E0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r>
              <a:rPr lang="en-IN" sz="2400" b="1" dirty="0">
                <a:solidFill>
                  <a:schemeClr val="tx1"/>
                </a:solidFill>
              </a:rPr>
              <a:t>Logistic regression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Used for classification problem when the output has two classes. 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It uses sigmoid function that converts any real no. into a value between 0 and 1</a:t>
            </a:r>
          </a:p>
          <a:p>
            <a:pPr algn="ctr"/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Example: Spam vs Not Spam</a:t>
            </a: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  <a:p>
            <a:pPr algn="ctr"/>
            <a:endParaRPr lang="en-IN" sz="24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2E770B-35BE-43C6-80E7-6CD4C74E6C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702" y="2901223"/>
            <a:ext cx="4833880" cy="3129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97B55D-3998-49EA-904C-297BCEAAEA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208" y="2901223"/>
            <a:ext cx="4605684" cy="30887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3B74075-5286-4444-BE51-85C08E083C92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3877471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Algorithms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E53C61-8A0B-40C8-8513-13F03881AD4B}"/>
              </a:ext>
            </a:extLst>
          </p:cNvPr>
          <p:cNvSpPr/>
          <p:nvPr/>
        </p:nvSpPr>
        <p:spPr>
          <a:xfrm>
            <a:off x="158595" y="1107481"/>
            <a:ext cx="5329382" cy="522141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Decision Tree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Splits data into branches based on feature value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Used for Classification and regression tasks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Example: Loan approval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US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49E86D-493C-4D0B-8BB2-0630FA232F96}"/>
              </a:ext>
            </a:extLst>
          </p:cNvPr>
          <p:cNvSpPr/>
          <p:nvPr/>
        </p:nvSpPr>
        <p:spPr>
          <a:xfrm>
            <a:off x="6163916" y="1107481"/>
            <a:ext cx="5329382" cy="522141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Random forest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Combines predictions from many decision trees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Used for Classification and regression tasks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Example: Fraud detection</a:t>
            </a: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585033-9BC4-4674-8FEC-A3DD10F24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28" y="3121891"/>
            <a:ext cx="4644315" cy="29755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FF6FE8-C824-4F18-AF29-207F26768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635" y="3121891"/>
            <a:ext cx="4515943" cy="29755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C9B084-7C34-4F89-B17E-46BE91CCC120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07281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Algorithm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74BE5B-CCEA-48EA-925B-07F89A007B50}"/>
              </a:ext>
            </a:extLst>
          </p:cNvPr>
          <p:cNvSpPr/>
          <p:nvPr/>
        </p:nvSpPr>
        <p:spPr>
          <a:xfrm>
            <a:off x="435685" y="1071418"/>
            <a:ext cx="5329382" cy="522141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K-Nearest Neighbours(</a:t>
            </a:r>
            <a:r>
              <a:rPr lang="en-IN" b="1" dirty="0" err="1">
                <a:solidFill>
                  <a:schemeClr val="tx1"/>
                </a:solidFill>
              </a:rPr>
              <a:t>kNN</a:t>
            </a:r>
            <a:r>
              <a:rPr lang="en-IN" b="1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Predicts based on the majority class (or average) of the nearest neighbors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Used for Classification &amp; Regression tasks 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Example: Handwriting Recognition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C590E73-09A7-4107-9BF3-6107315FDA05}"/>
              </a:ext>
            </a:extLst>
          </p:cNvPr>
          <p:cNvSpPr/>
          <p:nvPr/>
        </p:nvSpPr>
        <p:spPr>
          <a:xfrm>
            <a:off x="6163916" y="1107481"/>
            <a:ext cx="5329382" cy="522141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Support Vector Machine (SVM)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Finds the optimal hyperplane with the maximum margin between classes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 Used for Classification (mainly)</a:t>
            </a:r>
          </a:p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Example: Face recognition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18BE07-23CC-4478-8376-2806A0F89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69" y="2797764"/>
            <a:ext cx="4855614" cy="32327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F953A2-97F4-4188-BB57-8D1753FFC01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946"/>
          <a:stretch/>
        </p:blipFill>
        <p:spPr>
          <a:xfrm>
            <a:off x="8878744" y="2992582"/>
            <a:ext cx="2464144" cy="294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CBAAB99-CB5F-40B9-B0EC-D547287830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258" y="2992583"/>
            <a:ext cx="2464144" cy="29489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0ABF7CE-849A-43A4-A9D0-BBAFB95B8A5F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</a:t>
            </a:r>
          </a:p>
        </p:txBody>
      </p:sp>
    </p:spTree>
    <p:extLst>
      <p:ext uri="{BB962C8B-B14F-4D97-AF65-F5344CB8AC3E}">
        <p14:creationId xmlns:p14="http://schemas.microsoft.com/office/powerpoint/2010/main" val="1313070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Algorithms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D4804A-C9AB-40C8-BC4E-A0BA5C04E9E2}"/>
              </a:ext>
            </a:extLst>
          </p:cNvPr>
          <p:cNvSpPr/>
          <p:nvPr/>
        </p:nvSpPr>
        <p:spPr>
          <a:xfrm>
            <a:off x="535709" y="1154202"/>
            <a:ext cx="5015346" cy="146858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K-Means clustering</a:t>
            </a:r>
            <a:r>
              <a:rPr lang="en-IN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is the most popular clustering algorithm. It divides data into </a:t>
            </a:r>
            <a:r>
              <a:rPr lang="en-US" sz="1600" b="1" dirty="0">
                <a:solidFill>
                  <a:schemeClr val="tx1"/>
                </a:solidFill>
              </a:rPr>
              <a:t>K-clusters</a:t>
            </a:r>
            <a:r>
              <a:rPr lang="en-US" sz="1600" dirty="0">
                <a:solidFill>
                  <a:schemeClr val="tx1"/>
                </a:solidFill>
              </a:rPr>
              <a:t>, where each cluster contains similar data points.</a:t>
            </a:r>
          </a:p>
          <a:p>
            <a:r>
              <a:rPr lang="en-US" sz="1600" dirty="0">
                <a:solidFill>
                  <a:schemeClr val="tx1"/>
                </a:solidFill>
              </a:rPr>
              <a:t>Elbow Method helps determine the best value of K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Market analysis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765228-B34A-40E8-B4AF-E1B81CFBF0C1}"/>
              </a:ext>
            </a:extLst>
          </p:cNvPr>
          <p:cNvSpPr/>
          <p:nvPr/>
        </p:nvSpPr>
        <p:spPr>
          <a:xfrm>
            <a:off x="535709" y="2892420"/>
            <a:ext cx="5015346" cy="146858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DBSCAN(Density Based Spatial clustering of Applications): </a:t>
            </a:r>
            <a:r>
              <a:rPr lang="en-US" sz="1600" dirty="0">
                <a:solidFill>
                  <a:schemeClr val="tx1"/>
                </a:solidFill>
              </a:rPr>
              <a:t>groups data based on </a:t>
            </a:r>
            <a:r>
              <a:rPr lang="en-US" sz="1600" b="1" dirty="0">
                <a:solidFill>
                  <a:schemeClr val="tx1"/>
                </a:solidFill>
              </a:rPr>
              <a:t>density</a:t>
            </a:r>
            <a:r>
              <a:rPr lang="en-US" sz="1600" dirty="0">
                <a:solidFill>
                  <a:schemeClr val="tx1"/>
                </a:solidFill>
              </a:rPr>
              <a:t> rather than distance from a centroid. Uses :</a:t>
            </a:r>
            <a:r>
              <a:rPr lang="en-IN" sz="1600" dirty="0"/>
              <a:t> </a:t>
            </a:r>
            <a:r>
              <a:rPr lang="en-IN" sz="1600" dirty="0" err="1">
                <a:solidFill>
                  <a:schemeClr val="tx1"/>
                </a:solidFill>
              </a:rPr>
              <a:t>min_samples</a:t>
            </a:r>
            <a:r>
              <a:rPr lang="en-IN" sz="1600" dirty="0">
                <a:solidFill>
                  <a:schemeClr val="tx1"/>
                </a:solidFill>
              </a:rPr>
              <a:t> and </a:t>
            </a:r>
          </a:p>
          <a:p>
            <a:r>
              <a:rPr lang="en-IN" sz="1600" dirty="0">
                <a:solidFill>
                  <a:schemeClr val="tx1"/>
                </a:solidFill>
              </a:rPr>
              <a:t>eps (</a:t>
            </a:r>
            <a:r>
              <a:rPr lang="el-GR" sz="1600" dirty="0">
                <a:solidFill>
                  <a:schemeClr val="tx1"/>
                </a:solidFill>
              </a:rPr>
              <a:t>ε)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Example: Earthquake detection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7DAAAE-BF8F-4157-96A0-243E9F51A7D9}"/>
              </a:ext>
            </a:extLst>
          </p:cNvPr>
          <p:cNvSpPr/>
          <p:nvPr/>
        </p:nvSpPr>
        <p:spPr>
          <a:xfrm>
            <a:off x="535709" y="4786310"/>
            <a:ext cx="5015346" cy="14685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PCA(Principal Components Analysis):</a:t>
            </a:r>
            <a:r>
              <a:rPr lang="en-US" sz="1600" dirty="0">
                <a:solidFill>
                  <a:schemeClr val="tx1"/>
                </a:solidFill>
              </a:rPr>
              <a:t>is a dimensionality reduction technique that reduces the number of features while preserving most of the important information.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Example: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Noise reduction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1FF985-F24E-41DE-BFDE-E0E0CD07C652}"/>
              </a:ext>
            </a:extLst>
          </p:cNvPr>
          <p:cNvSpPr/>
          <p:nvPr/>
        </p:nvSpPr>
        <p:spPr>
          <a:xfrm>
            <a:off x="6958120" y="900126"/>
            <a:ext cx="3687509" cy="2765864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665D814-3435-4049-9C86-60F67424B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585" y="994359"/>
            <a:ext cx="3326093" cy="25121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46A735-6B2C-4C9A-A806-3D6C107479C0}"/>
              </a:ext>
            </a:extLst>
          </p:cNvPr>
          <p:cNvSpPr/>
          <p:nvPr/>
        </p:nvSpPr>
        <p:spPr>
          <a:xfrm>
            <a:off x="6778305" y="3938741"/>
            <a:ext cx="4127383" cy="238895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B054552-8FCD-4009-B1B7-FB37E8737B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120" y="4105679"/>
            <a:ext cx="3787254" cy="20550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2E406FD-F22C-4A83-9A52-DAB7F28B4740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</a:t>
            </a:r>
          </a:p>
        </p:txBody>
      </p:sp>
    </p:spTree>
    <p:extLst>
      <p:ext uri="{BB962C8B-B14F-4D97-AF65-F5344CB8AC3E}">
        <p14:creationId xmlns:p14="http://schemas.microsoft.com/office/powerpoint/2010/main" val="1992796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424"/>
            <a:ext cx="698703" cy="6620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27"/>
            <a:ext cx="12192000" cy="6094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921"/>
            <a:ext cx="2464144" cy="3174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52"/>
            <a:ext cx="12192000" cy="1777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401"/>
            <a:ext cx="11338560" cy="914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DDC9C-2751-4D02-BB8A-0741BB3F1774}"/>
              </a:ext>
            </a:extLst>
          </p:cNvPr>
          <p:cNvSpPr txBox="1"/>
          <p:nvPr/>
        </p:nvSpPr>
        <p:spPr>
          <a:xfrm>
            <a:off x="337262" y="969607"/>
            <a:ext cx="11535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Model evaluation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/>
              <a:t>is the process of using various metrics to measure how well a machine learning model performs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70B09E-30D6-4A4E-AB65-C4CD0C701BCF}"/>
              </a:ext>
            </a:extLst>
          </p:cNvPr>
          <p:cNvSpPr/>
          <p:nvPr/>
        </p:nvSpPr>
        <p:spPr>
          <a:xfrm>
            <a:off x="5148619" y="1384282"/>
            <a:ext cx="1912690" cy="905744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IN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Evaluation Metrics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FC07B0-6DD2-4C8E-B150-890A252A9582}"/>
              </a:ext>
            </a:extLst>
          </p:cNvPr>
          <p:cNvSpPr/>
          <p:nvPr/>
        </p:nvSpPr>
        <p:spPr>
          <a:xfrm>
            <a:off x="1256127" y="2449432"/>
            <a:ext cx="3892492" cy="2354651"/>
          </a:xfrm>
          <a:prstGeom prst="roundRect">
            <a:avLst/>
          </a:prstGeom>
          <a:gradFill flip="none" rotWithShape="1">
            <a:gsLst>
              <a:gs pos="0">
                <a:schemeClr val="dk2">
                  <a:shade val="30000"/>
                  <a:satMod val="115000"/>
                </a:schemeClr>
              </a:gs>
              <a:gs pos="50000">
                <a:schemeClr val="dk2">
                  <a:shade val="67500"/>
                  <a:satMod val="115000"/>
                </a:schemeClr>
              </a:gs>
              <a:gs pos="100000">
                <a:schemeClr val="dk2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Classification Metrics </a:t>
            </a:r>
          </a:p>
          <a:p>
            <a:pPr algn="ctr"/>
            <a:r>
              <a:rPr lang="en-IN" sz="2000" b="1" dirty="0"/>
              <a:t>(Predicting Categories)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Confusion Matrix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Precision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Recall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F1-Score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b="1" dirty="0"/>
              <a:t>ROC</a:t>
            </a:r>
            <a:r>
              <a:rPr lang="en-IN" sz="1600" b="1" dirty="0"/>
              <a:t>-AUC</a:t>
            </a:r>
            <a:endParaRPr lang="en-US" sz="16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92BD19E-E4F4-4167-857F-E12264A64D29}"/>
              </a:ext>
            </a:extLst>
          </p:cNvPr>
          <p:cNvSpPr/>
          <p:nvPr/>
        </p:nvSpPr>
        <p:spPr>
          <a:xfrm>
            <a:off x="7043381" y="2409330"/>
            <a:ext cx="3892492" cy="2354651"/>
          </a:xfrm>
          <a:prstGeom prst="roundRect">
            <a:avLst/>
          </a:prstGeom>
          <a:gradFill flip="none" rotWithShape="1">
            <a:gsLst>
              <a:gs pos="0">
                <a:schemeClr val="dk2">
                  <a:shade val="30000"/>
                  <a:satMod val="115000"/>
                </a:schemeClr>
              </a:gs>
              <a:gs pos="50000">
                <a:schemeClr val="dk2">
                  <a:shade val="67500"/>
                  <a:satMod val="115000"/>
                </a:schemeClr>
              </a:gs>
              <a:gs pos="100000">
                <a:schemeClr val="dk2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Regression Metrics</a:t>
            </a:r>
          </a:p>
          <a:p>
            <a:pPr algn="ctr"/>
            <a:r>
              <a:rPr lang="en-IN" sz="2000" b="1" dirty="0"/>
              <a:t>(Predicting Numbers)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Mean Absolute Error (MAE)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Mean Squared Error (MSE)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Root Mean Squared Error (RMSE)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R-squared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AF4A5D8-896A-4E04-AA6B-AC9EB5F4C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055" y="4645952"/>
            <a:ext cx="3251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F29A99BE-E22A-4448-A92E-19A6B9BFC618}"/>
              </a:ext>
            </a:extLst>
          </p:cNvPr>
          <p:cNvSpPr/>
          <p:nvPr/>
        </p:nvSpPr>
        <p:spPr>
          <a:xfrm rot="5400000">
            <a:off x="7852662" y="1016938"/>
            <a:ext cx="601040" cy="2183747"/>
          </a:xfrm>
          <a:prstGeom prst="ben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Arrow: Bent 19">
            <a:extLst>
              <a:ext uri="{FF2B5EF4-FFF2-40B4-BE49-F238E27FC236}">
                <a16:creationId xmlns:a16="http://schemas.microsoft.com/office/drawing/2014/main" id="{0055B24E-CF9E-4182-A26D-D3DA50856176}"/>
              </a:ext>
            </a:extLst>
          </p:cNvPr>
          <p:cNvSpPr/>
          <p:nvPr/>
        </p:nvSpPr>
        <p:spPr>
          <a:xfrm rot="5400000">
            <a:off x="3738297" y="1079550"/>
            <a:ext cx="601040" cy="2183747"/>
          </a:xfrm>
          <a:prstGeom prst="bentArrow">
            <a:avLst/>
          </a:prstGeom>
          <a:solidFill>
            <a:schemeClr val="tx2">
              <a:lumMod val="75000"/>
            </a:schemeClr>
          </a:solidFill>
          <a:scene3d>
            <a:camera prst="orthographicFront">
              <a:rot lat="0" lon="10800000" rev="108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15C00C-FAA7-4DB0-8F7F-37C744D4DF3C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16511215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Validation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98F81-F8DA-4768-9445-B9101B179D18}"/>
              </a:ext>
            </a:extLst>
          </p:cNvPr>
          <p:cNvSpPr txBox="1"/>
          <p:nvPr/>
        </p:nvSpPr>
        <p:spPr>
          <a:xfrm>
            <a:off x="286327" y="1163782"/>
            <a:ext cx="116193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Cross validation </a:t>
            </a:r>
            <a:r>
              <a:rPr lang="en-IN" dirty="0"/>
              <a:t>is a statistical method used to evaluate </a:t>
            </a:r>
            <a:r>
              <a:rPr lang="en-IN" dirty="0" err="1"/>
              <a:t>oe</a:t>
            </a:r>
            <a:r>
              <a:rPr lang="en-IN" dirty="0"/>
              <a:t> well your model will perform on entirely new , unseen data. </a:t>
            </a:r>
          </a:p>
          <a:p>
            <a:r>
              <a:rPr lang="en-IN" dirty="0"/>
              <a:t> </a:t>
            </a:r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4-fold Cross Validation: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B6EFFE-6564-4B12-BF94-FEDEDD352B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06" b="5482"/>
          <a:stretch/>
        </p:blipFill>
        <p:spPr>
          <a:xfrm>
            <a:off x="2839497" y="1499382"/>
            <a:ext cx="6878010" cy="50245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4C54FA-E069-4D9D-B5E6-BBA36F15A2E0}"/>
              </a:ext>
            </a:extLst>
          </p:cNvPr>
          <p:cNvSpPr/>
          <p:nvPr/>
        </p:nvSpPr>
        <p:spPr>
          <a:xfrm>
            <a:off x="6199993" y="3363894"/>
            <a:ext cx="157018" cy="13762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982D80-0E4E-4D10-9002-7B466FD894A5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8.</a:t>
            </a:r>
          </a:p>
        </p:txBody>
      </p:sp>
    </p:spTree>
    <p:extLst>
      <p:ext uri="{BB962C8B-B14F-4D97-AF65-F5344CB8AC3E}">
        <p14:creationId xmlns:p14="http://schemas.microsoft.com/office/powerpoint/2010/main" val="1838976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28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Tunning</a:t>
            </a: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(Hyperparameter Tuning)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F5EE2-CC70-410A-AF8E-408C180FC8E8}"/>
              </a:ext>
            </a:extLst>
          </p:cNvPr>
          <p:cNvSpPr txBox="1"/>
          <p:nvPr/>
        </p:nvSpPr>
        <p:spPr>
          <a:xfrm>
            <a:off x="235256" y="994359"/>
            <a:ext cx="117394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Hyperparameter tuning </a:t>
            </a:r>
            <a:r>
              <a:rPr lang="en-US" b="1" dirty="0"/>
              <a:t>is the process of finding the absolute best combination of these settings to get the highest performance out of your model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425AFB-C4E9-461D-9686-10FDBCBCE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1746" y="2018294"/>
            <a:ext cx="5985164" cy="40533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263E0F-6145-40AF-A045-A6B4EEF94103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</a:t>
            </a:r>
          </a:p>
        </p:txBody>
      </p:sp>
    </p:spTree>
    <p:extLst>
      <p:ext uri="{BB962C8B-B14F-4D97-AF65-F5344CB8AC3E}">
        <p14:creationId xmlns:p14="http://schemas.microsoft.com/office/powerpoint/2010/main" val="37560095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Tradeoff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2E2E24-46D2-4EFD-B67A-41A58946EBA1}"/>
              </a:ext>
            </a:extLst>
          </p:cNvPr>
          <p:cNvSpPr txBox="1"/>
          <p:nvPr/>
        </p:nvSpPr>
        <p:spPr>
          <a:xfrm>
            <a:off x="435685" y="1099127"/>
            <a:ext cx="6020533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Bias-Variance Tradeoff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en-US" b="1" dirty="0"/>
              <a:t>It describes the delicate balancing act you must perform to build a model that is smart enough to learn the underlying patterns in your data, but not so "over-memorized" that it fails when it sees new data.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a </a:t>
            </a:r>
            <a:r>
              <a:rPr lang="en-US" b="1" dirty="0"/>
              <a:t>tradeoff</a:t>
            </a:r>
            <a:r>
              <a:rPr lang="en-US" dirty="0"/>
              <a:t> in machine learning is a </a:t>
            </a:r>
            <a:r>
              <a:rPr lang="en-US" b="1" dirty="0"/>
              <a:t>compromise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753898-34E8-4019-92ED-45C45831F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236" y="1374239"/>
            <a:ext cx="5161009" cy="43267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B10B9A-70CB-4266-A7BD-8DD0EAF3F075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10.</a:t>
            </a:r>
          </a:p>
        </p:txBody>
      </p:sp>
    </p:spTree>
    <p:extLst>
      <p:ext uri="{BB962C8B-B14F-4D97-AF65-F5344CB8AC3E}">
        <p14:creationId xmlns:p14="http://schemas.microsoft.com/office/powerpoint/2010/main" val="9567656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69794-6373-4FA0-BD7B-0BE446B0CAC4}"/>
              </a:ext>
            </a:extLst>
          </p:cNvPr>
          <p:cNvSpPr txBox="1"/>
          <p:nvPr/>
        </p:nvSpPr>
        <p:spPr>
          <a:xfrm>
            <a:off x="435685" y="1191491"/>
            <a:ext cx="1151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Feature engineering</a:t>
            </a:r>
            <a:r>
              <a:rPr lang="en-US" dirty="0"/>
              <a:t> is the process of using domain knowledge to select, modify, or create new variables (features) from your raw data to make machine learning algorithms work better.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0623AE-F65C-4774-82B9-227CD8639428}"/>
              </a:ext>
            </a:extLst>
          </p:cNvPr>
          <p:cNvSpPr/>
          <p:nvPr/>
        </p:nvSpPr>
        <p:spPr>
          <a:xfrm>
            <a:off x="3426691" y="3805382"/>
            <a:ext cx="2142836" cy="249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B4A765-5069-410B-BEF1-708BA2FC6E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594" y="2227222"/>
            <a:ext cx="5184397" cy="34392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D64D35-22E2-4162-A885-6AFAB81FFD2D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11.</a:t>
            </a:r>
          </a:p>
        </p:txBody>
      </p:sp>
    </p:spTree>
    <p:extLst>
      <p:ext uri="{BB962C8B-B14F-4D97-AF65-F5344CB8AC3E}">
        <p14:creationId xmlns:p14="http://schemas.microsoft.com/office/powerpoint/2010/main" val="114576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NLP(</a:t>
            </a:r>
            <a:r>
              <a:rPr lang="en-US" sz="2800" b="1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Natuiral</a:t>
            </a:r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language processing)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B1FE6-F692-43EB-80CB-F116B63FB910}"/>
              </a:ext>
            </a:extLst>
          </p:cNvPr>
          <p:cNvSpPr txBox="1"/>
          <p:nvPr/>
        </p:nvSpPr>
        <p:spPr>
          <a:xfrm>
            <a:off x="435685" y="1108364"/>
            <a:ext cx="11451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Natural Language Processing (NLP) </a:t>
            </a:r>
            <a:r>
              <a:rPr lang="en-US" dirty="0"/>
              <a:t>is a branch of artificial intelligence that focuses on the interaction between computers and human language. Its primary goal is to enable machines to </a:t>
            </a:r>
            <a:r>
              <a:rPr lang="en-US" b="1" dirty="0"/>
              <a:t>read, understand, interpret, and generate</a:t>
            </a:r>
            <a:r>
              <a:rPr lang="en-US" dirty="0"/>
              <a:t> human language in a way that is valuable and contextually accurate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F30DC-2769-499A-BB94-AF81419A9C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09" y="2645020"/>
            <a:ext cx="9217891" cy="25861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E69BC1-880F-4521-A0DD-1A0BF6FEA68B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</a:t>
            </a:r>
          </a:p>
        </p:txBody>
      </p:sp>
    </p:spTree>
    <p:extLst>
      <p:ext uri="{BB962C8B-B14F-4D97-AF65-F5344CB8AC3E}">
        <p14:creationId xmlns:p14="http://schemas.microsoft.com/office/powerpoint/2010/main" val="1107094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capstone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F906D-9F3E-45C5-ABF1-2791D6A572E0}"/>
              </a:ext>
            </a:extLst>
          </p:cNvPr>
          <p:cNvSpPr txBox="1"/>
          <p:nvPr/>
        </p:nvSpPr>
        <p:spPr>
          <a:xfrm>
            <a:off x="435685" y="1117600"/>
            <a:ext cx="114238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Titanic Survival Prediction Using Machine Learning</a:t>
            </a:r>
          </a:p>
          <a:p>
            <a:r>
              <a:rPr lang="en-US" b="1" dirty="0"/>
              <a:t>Problem Statement</a:t>
            </a:r>
          </a:p>
          <a:p>
            <a:r>
              <a:rPr lang="en-US" sz="1600" dirty="0"/>
              <a:t>The objective of this project was to develop a machine learning model that predicts whether a passenger survived the Titanic disaster based on passenger information such as passenger class, gender, age, fare, family members traveling together, and embarkation details. This is a binary classification problem where the target variable is </a:t>
            </a:r>
            <a:r>
              <a:rPr lang="en-US" sz="1600" b="1" dirty="0"/>
              <a:t>survived</a:t>
            </a:r>
            <a:r>
              <a:rPr lang="en-US" sz="1600" dirty="0"/>
              <a:t> (0 = Did Not Survive, 1 = Survived).</a:t>
            </a:r>
          </a:p>
          <a:p>
            <a:r>
              <a:rPr lang="en-US" b="1" dirty="0"/>
              <a:t>Results</a:t>
            </a:r>
          </a:p>
          <a:p>
            <a:r>
              <a:rPr lang="en-US" sz="1600" dirty="0"/>
              <a:t>The exploratory data analysis revealed that female passengers and first-class passengers had a higher survival rate than male passengers and third-class passengers. Among the three machine learning algorithms, the Random Forest Classifier achieved the highest prediction accuracy and produced the most reliable results during cross-validation. 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Results before cross validation: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88561C3-01C4-46EF-B0A8-2E7557C41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836" y="4203769"/>
            <a:ext cx="3074560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Logistic Regression Accuracy: 81.01%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Decision Tree: 65.92%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Random Forest Accuracy: 82.68%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0F628F-CFAD-4813-8893-890668D5A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23" y="3562047"/>
            <a:ext cx="4233166" cy="27668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EA932A4-7D73-47B8-9A6A-B16307458FF2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13.</a:t>
            </a:r>
          </a:p>
        </p:txBody>
      </p:sp>
    </p:spTree>
    <p:extLst>
      <p:ext uri="{BB962C8B-B14F-4D97-AF65-F5344CB8AC3E}">
        <p14:creationId xmlns:p14="http://schemas.microsoft.com/office/powerpoint/2010/main" val="4119878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and 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FDCB4-8C75-4E7C-AAEC-B3B06783669D}"/>
              </a:ext>
            </a:extLst>
          </p:cNvPr>
          <p:cNvSpPr txBox="1"/>
          <p:nvPr/>
        </p:nvSpPr>
        <p:spPr>
          <a:xfrm>
            <a:off x="318782" y="1034628"/>
            <a:ext cx="116439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Future work:</a:t>
            </a:r>
          </a:p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Predictive Maintenance model for Stone Crusher Machines</a:t>
            </a:r>
          </a:p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To predict failure of the machine</a:t>
            </a:r>
          </a:p>
          <a:p>
            <a:endParaRPr lang="en-IN" sz="2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IN" sz="2000" b="1" dirty="0">
                <a:solidFill>
                  <a:schemeClr val="tx2">
                    <a:lumMod val="75000"/>
                  </a:schemeClr>
                </a:solidFill>
              </a:rPr>
              <a:t>References:</a:t>
            </a:r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Book: Machine Learning For Absolute beginners: A plain English introduction</a:t>
            </a:r>
            <a:r>
              <a:rPr lang="en-IN" sz="2000" dirty="0">
                <a:solidFill>
                  <a:schemeClr val="tx2">
                    <a:lumMod val="75000"/>
                  </a:schemeClr>
                </a:solidFill>
              </a:rPr>
              <a:t>,</a:t>
            </a:r>
            <a:r>
              <a:rPr lang="en-IN" sz="2000" dirty="0"/>
              <a:t> Oliver </a:t>
            </a:r>
            <a:r>
              <a:rPr lang="en-IN" sz="2000" dirty="0" err="1"/>
              <a:t>Theobald,second</a:t>
            </a:r>
            <a:r>
              <a:rPr lang="en-IN" sz="2000" dirty="0"/>
              <a:t> edition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/>
              <a:t>Kaggle Datasets — </a:t>
            </a:r>
            <a:r>
              <a:rPr lang="en-IN" sz="2000" dirty="0">
                <a:hlinkClick r:id="rId4"/>
              </a:rPr>
              <a:t>https://www.kaggle.com/datasets</a:t>
            </a: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err="1"/>
              <a:t>Scikit</a:t>
            </a:r>
            <a:r>
              <a:rPr lang="en-US" sz="2000" dirty="0"/>
              <a:t>-learn— https://scikit-learn.org/stable/modules/preprocessing.html</a:t>
            </a:r>
            <a:endParaRPr lang="en-IN" sz="20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735A6-C23C-4550-B49B-85F6195ABF75}"/>
              </a:ext>
            </a:extLst>
          </p:cNvPr>
          <p:cNvSpPr/>
          <p:nvPr/>
        </p:nvSpPr>
        <p:spPr>
          <a:xfrm>
            <a:off x="117446" y="6292828"/>
            <a:ext cx="478172" cy="35130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14.</a:t>
            </a:r>
          </a:p>
        </p:txBody>
      </p:sp>
    </p:spTree>
    <p:extLst>
      <p:ext uri="{BB962C8B-B14F-4D97-AF65-F5344CB8AC3E}">
        <p14:creationId xmlns:p14="http://schemas.microsoft.com/office/powerpoint/2010/main" val="4015433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A1603-CC53-4585-9AB1-375C473AD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567" y="2352525"/>
            <a:ext cx="444879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1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2265</TotalTime>
  <Words>1158</Words>
  <Application>Microsoft Office PowerPoint</Application>
  <PresentationFormat>Widescreen</PresentationFormat>
  <Paragraphs>244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Georgia</vt:lpstr>
      <vt:lpstr>menlo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USER1</cp:lastModifiedBy>
  <cp:revision>58</cp:revision>
  <dcterms:created xsi:type="dcterms:W3CDTF">2026-05-21T06:29:53Z</dcterms:created>
  <dcterms:modified xsi:type="dcterms:W3CDTF">2026-07-08T06:39:43Z</dcterms:modified>
</cp:coreProperties>
</file>