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1" r:id="rId2"/>
    <p:sldId id="353" r:id="rId3"/>
    <p:sldId id="337" r:id="rId4"/>
    <p:sldId id="342" r:id="rId5"/>
    <p:sldId id="343" r:id="rId6"/>
    <p:sldId id="344" r:id="rId7"/>
    <p:sldId id="345" r:id="rId8"/>
    <p:sldId id="346" r:id="rId9"/>
    <p:sldId id="348" r:id="rId10"/>
    <p:sldId id="347" r:id="rId11"/>
    <p:sldId id="349" r:id="rId12"/>
    <p:sldId id="350" r:id="rId13"/>
    <p:sldId id="351" r:id="rId14"/>
    <p:sldId id="352" r:id="rId15"/>
    <p:sldId id="354" r:id="rId16"/>
    <p:sldId id="35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D136DE-C2F1-46DF-9158-F5B1C9F66F7C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E2C23-AB71-48A3-A853-ACF00B17B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8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4821-3235-47BF-AF4B-2E30EF1B4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1FB3C-0D0B-465C-98AC-5B14C298E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68B52-E0F9-45A2-8C7D-B358315FB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53C52-2958-4C54-BC01-36790C58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55F15-3380-48EA-A7D8-012213959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64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CE07-2652-4C41-A676-8D57F34D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71F53-7F5F-42AA-9ACD-49AEC72A2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93B9-B33D-4E6B-AC78-A13DEAAE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579EA-78A8-4887-AB77-FFAFA5D9B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D10B3-2255-4C1B-A319-AD0074A7E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15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E933-5EFE-4E78-9D97-8A27689E4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AF60-E9D1-4516-95A4-F66F41868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FC0B8-254E-4FE2-9D75-A132A795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3D464-E2F3-4583-A77C-12D9365F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4BAC2-53E2-4453-8689-68D243C72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622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CE180-91ED-4FFA-99BD-D5FC11C6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41887-05D2-48B8-AEA1-EAE21CB8E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56178-7250-46E6-B01A-476162EF6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1DC67-1AB6-42CE-9352-FE76082AF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0DE47-6DFE-4AA6-9626-D561C4D7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EF754-3375-41C6-A18D-D07FB96F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13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CCB8-9503-42A0-99BC-DCE31438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B4B14-3459-4B2F-97E6-D413B559A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ED02B-DB8D-44E4-8CDB-F0AF6E39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8AAB9-390B-48C9-B11F-0C6BA5725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984823-9A72-4636-AC5A-65568856E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9BB542-3F71-47AC-A305-687EF6EC3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AC5EC-F57B-4D9D-9845-950491658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666A1A-8945-4B88-89E2-37C14967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526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F666C-1D03-401C-B1BD-237C4FBFF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E00056-CEF7-40A3-B9AF-78A531EC8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C237C-AF2B-4057-A750-67F09B9F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29581-A81B-487A-9ABC-3FF6D637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23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62A47-6A90-4B08-BF53-9DD0BB76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7DAB2C-EDE1-4A01-BD29-FFE0077A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55DF8-C4C2-4449-96F3-BE5E0CC9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55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2B02A-3AEB-4C29-9D69-5441D3DB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B4A64-E1D3-432D-A1FB-E004F0F1B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37C7F-5397-4F84-930F-C7F05581B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73B90-875A-481E-BBAB-5B3CDDF91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55909-17DE-408C-BBCC-A8124C27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A3D7B-7988-4250-9CEA-8A9B0C9F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475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14CF-9786-4C06-A7A5-4A9F1ADBA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E0041-DE59-44C8-9200-2AF029C2C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BA23A-9959-4F83-9B75-B1AC07071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5AE02-DDE1-4CCC-B4A4-E46C9E7E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E7555-BD10-4BD7-9287-2E96B34D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0732B-73AC-4229-B28B-CE8DE982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29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4815-7080-4FF3-AEB9-9BC15B59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6D3A1-E6FD-4249-A0EB-FC0E53F38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E4750-FCB7-463A-A5BE-0DB34A37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9D66E-093E-4FA6-808B-DCED21212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83E75-4274-4D7D-A81C-B5A2D8097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06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6BA13-A4DE-4F03-BD99-1FCBB1D56F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4AF43-9AD1-41F1-963D-C423D3C25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6B189-6AA0-414F-B845-05170D32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1CE41-B1AB-450B-ACED-8573E858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5C561-2CF9-4D6D-9D77-9BAA9C8AA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296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745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2C91A-584F-4374-95E8-194F409D9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0A597-0DA1-4625-B14C-FF36E57FA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04F59-463E-4843-838A-91C59BF0F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5714F-817F-4E2E-A6D7-101434A00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7AEF9-A57B-4D46-A0A9-19361CB8E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1D80C-9C30-4800-BA82-8D5A6DF3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48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en.wikipedia.org/wiki/Naive_Bayes_classifier" TargetMode="External"/><Relationship Id="rId4" Type="http://schemas.openxmlformats.org/officeDocument/2006/relationships/hyperlink" Target="https://scikit-learn.org/stable/modules/naive_bayes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3600" b="1" dirty="0">
                <a:latin typeface="Georgia" pitchFamily="34" charset="0"/>
              </a:rPr>
              <a:t>Naive Bayes</a:t>
            </a:r>
            <a:endParaRPr lang="en-US" sz="36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Varsha </a:t>
            </a:r>
            <a:r>
              <a:rPr lang="en-US" sz="1467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Sangwan</a:t>
            </a:r>
            <a:endParaRPr lang="en-US" sz="1467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Riya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44FEF-A409-46D2-BDE1-D4BB3518FF26}"/>
              </a:ext>
            </a:extLst>
          </p:cNvPr>
          <p:cNvSpPr txBox="1"/>
          <p:nvPr/>
        </p:nvSpPr>
        <p:spPr>
          <a:xfrm>
            <a:off x="151075" y="189720"/>
            <a:ext cx="4174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Table Of Contents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E050DE-D42C-450B-99F9-4E0E6E40454B}"/>
              </a:ext>
            </a:extLst>
          </p:cNvPr>
          <p:cNvSpPr txBox="1"/>
          <p:nvPr/>
        </p:nvSpPr>
        <p:spPr>
          <a:xfrm>
            <a:off x="227938" y="1177025"/>
            <a:ext cx="586806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Introduction to Naive Bayes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Conditional Probability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The independence assumption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Bayes’ Theorem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The Naive Bayes Formula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Workflow of Naive Bayes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Types of Naive Bayes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Applications of Naive Bayes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Practical Example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References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47877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6F46F-6C17-4BE4-8DCB-3B2405D65CBC}"/>
              </a:ext>
            </a:extLst>
          </p:cNvPr>
          <p:cNvSpPr txBox="1"/>
          <p:nvPr/>
        </p:nvSpPr>
        <p:spPr>
          <a:xfrm>
            <a:off x="548640" y="1065475"/>
            <a:ext cx="11216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mo"/>
                <a:ea typeface="Arimo"/>
                <a:cs typeface="Arimo"/>
                <a:sym typeface="Arimo"/>
              </a:rPr>
              <a:t>Naive Bayes is a probabilistic machine learning algorithm based on Bayes' Theorem. It is primarily used for classification tasks, where the goal is to assign a class label to a given input based on its features. Despite its simplicity, Naive Bayes is widely used in real-world applications such as spam filtering, sentiment analysis, and document classification.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002A19-1383-423F-A942-620C8CE48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256" y="3014854"/>
            <a:ext cx="9945488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45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E8F46-F05D-4D58-8731-13932D41B3B3}"/>
              </a:ext>
            </a:extLst>
          </p:cNvPr>
          <p:cNvSpPr txBox="1"/>
          <p:nvPr/>
        </p:nvSpPr>
        <p:spPr>
          <a:xfrm>
            <a:off x="2329732" y="2743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3E12B2-D845-4A5A-90C5-F3A3540EC92B}"/>
              </a:ext>
            </a:extLst>
          </p:cNvPr>
          <p:cNvSpPr/>
          <p:nvPr/>
        </p:nvSpPr>
        <p:spPr>
          <a:xfrm>
            <a:off x="1431235" y="2830664"/>
            <a:ext cx="3045349" cy="14391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EDF6FC-6231-4C30-9E6E-36DCEDC58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256" y="3034379"/>
            <a:ext cx="2751306" cy="9859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A4D7CA1-A078-4933-8555-AABF65A06782}"/>
              </a:ext>
            </a:extLst>
          </p:cNvPr>
          <p:cNvSpPr txBox="1"/>
          <p:nvPr/>
        </p:nvSpPr>
        <p:spPr>
          <a:xfrm>
            <a:off x="499796" y="1126775"/>
            <a:ext cx="530911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Conditional probability </a:t>
            </a:r>
            <a:r>
              <a:rPr lang="en-IN" dirty="0"/>
              <a:t>measures the likelihood of event A occurring, given that event B has already occurred. It is the </a:t>
            </a:r>
            <a:r>
              <a:rPr lang="en-IN" b="1" dirty="0"/>
              <a:t>mathematical backbone </a:t>
            </a:r>
            <a:r>
              <a:rPr lang="en-IN" dirty="0"/>
              <a:t>that Bayes’ Theorem – and therefore Naive Bayes - built 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A343C17-B58F-45F2-B0B3-6007BD2D7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242" y="1589852"/>
            <a:ext cx="4413378" cy="30474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346938-025D-4B7A-B022-FD87893F110C}"/>
              </a:ext>
            </a:extLst>
          </p:cNvPr>
          <p:cNvSpPr txBox="1"/>
          <p:nvPr/>
        </p:nvSpPr>
        <p:spPr>
          <a:xfrm>
            <a:off x="718457" y="4637314"/>
            <a:ext cx="4544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P(A|B) is Probability of A given B</a:t>
            </a:r>
          </a:p>
        </p:txBody>
      </p:sp>
    </p:spTree>
    <p:extLst>
      <p:ext uri="{BB962C8B-B14F-4D97-AF65-F5344CB8AC3E}">
        <p14:creationId xmlns:p14="http://schemas.microsoft.com/office/powerpoint/2010/main" val="2340352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</a:rPr>
              <a:t>The Independence Assumption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DDD91-9EC6-43EC-9D62-018AF070D392}"/>
              </a:ext>
            </a:extLst>
          </p:cNvPr>
          <p:cNvSpPr txBox="1"/>
          <p:nvPr/>
        </p:nvSpPr>
        <p:spPr>
          <a:xfrm>
            <a:off x="559836" y="1194621"/>
            <a:ext cx="11205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Naïve </a:t>
            </a:r>
            <a:r>
              <a:rPr lang="en-IN" dirty="0" err="1"/>
              <a:t>bayes</a:t>
            </a:r>
            <a:r>
              <a:rPr lang="en-IN" dirty="0"/>
              <a:t> assumes every feature contributes independently to the outcome ,given the class. Knowing the value of one feature tells you nothing about another feature – this is the “Naive” part of algorithm.</a:t>
            </a:r>
            <a:endParaRPr lang="en-IN" baseline="30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6C2063-A95F-4BC2-8078-75316E58600F}"/>
              </a:ext>
            </a:extLst>
          </p:cNvPr>
          <p:cNvSpPr/>
          <p:nvPr/>
        </p:nvSpPr>
        <p:spPr>
          <a:xfrm>
            <a:off x="671803" y="2018464"/>
            <a:ext cx="5187821" cy="42393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FEF512-863A-4098-84DE-A7D6DAA38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028" y="2336061"/>
            <a:ext cx="4441370" cy="34616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106D3C-93C6-4650-9875-8198FDFE6895}"/>
              </a:ext>
            </a:extLst>
          </p:cNvPr>
          <p:cNvSpPr txBox="1"/>
          <p:nvPr/>
        </p:nvSpPr>
        <p:spPr>
          <a:xfrm>
            <a:off x="7111019" y="3867355"/>
            <a:ext cx="43822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Reduces a joint complex probability into a simple product of individual probabilities.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Makes the model computationally cheap – only per-feature statistics are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assumption is rarely 100%,yet Naive Bayes still classifies accurately in practice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D277F4-D736-4B87-8CC1-592CA0FC2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019" y="2443628"/>
            <a:ext cx="4290733" cy="9853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61906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Bayes’ Theorem</a:t>
            </a:r>
            <a:endParaRPr lang="en-US" sz="280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8E31D3-ADD9-482D-A45E-BE76E235DABB}"/>
              </a:ext>
            </a:extLst>
          </p:cNvPr>
          <p:cNvGrpSpPr/>
          <p:nvPr/>
        </p:nvGrpSpPr>
        <p:grpSpPr>
          <a:xfrm>
            <a:off x="1483567" y="1147666"/>
            <a:ext cx="9106678" cy="1343608"/>
            <a:chOff x="-748347" y="1179693"/>
            <a:chExt cx="9106678" cy="1343608"/>
          </a:xfrm>
          <a:solidFill>
            <a:schemeClr val="accent6">
              <a:lumMod val="75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B753E7A-DCB4-4416-8F11-1D56F5E2A672}"/>
                </a:ext>
              </a:extLst>
            </p:cNvPr>
            <p:cNvSpPr/>
            <p:nvPr/>
          </p:nvSpPr>
          <p:spPr>
            <a:xfrm>
              <a:off x="-748347" y="1179693"/>
              <a:ext cx="9106678" cy="1343608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8206685-740A-4AB7-A9E9-E683AFAC387A}"/>
                    </a:ext>
                  </a:extLst>
                </p:cNvPr>
                <p:cNvSpPr txBox="1"/>
                <p:nvPr/>
              </p:nvSpPr>
              <p:spPr>
                <a:xfrm>
                  <a:off x="1777928" y="1420834"/>
                  <a:ext cx="3633746" cy="87030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𝐏</m:t>
                        </m:r>
                        <m:d>
                          <m:dPr>
                            <m:ctrlPr>
                              <a:rPr lang="en-IN" sz="2400" i="1" smtClean="0">
                                <a:ln w="0"/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 smtClean="0">
                                <a:ln w="0"/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e>
                            <m:r>
                              <a:rPr lang="en-IN" sz="2400" i="1" smtClean="0">
                                <a:ln w="0"/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  <m:r>
                          <a:rPr lang="en-IN" sz="2400" i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2400" i="1" smtClean="0">
                                <a:ln w="0"/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0" smtClean="0">
                                <a:ln w="0"/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𝐏</m:t>
                            </m:r>
                            <m:d>
                              <m:dPr>
                                <m:ctrlPr>
                                  <a:rPr lang="en-IN" sz="2400" i="1" smtClean="0">
                                    <a:ln w="0"/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 smtClean="0">
                                    <a:ln w="0"/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e>
                                <m:r>
                                  <a:rPr lang="en-IN" sz="2400" i="1" smtClean="0">
                                    <a:ln w="0"/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  <m:r>
                              <a:rPr lang="en-IN" sz="2400" i="0" smtClean="0">
                                <a:ln w="0"/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IN" sz="2400" i="0" smtClean="0">
                                <a:ln w="0"/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𝐏</m:t>
                            </m:r>
                            <m:d>
                              <m:dPr>
                                <m:ctrlPr>
                                  <a:rPr lang="en-IN" sz="2400" i="1" smtClean="0">
                                    <a:ln w="0"/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 smtClean="0">
                                    <a:ln w="0"/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num>
                          <m:den>
                            <m:r>
                              <a:rPr lang="en-IN" sz="2400" i="0" smtClean="0">
                                <a:ln w="0"/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𝐏</m:t>
                            </m:r>
                            <m:d>
                              <m:dPr>
                                <m:ctrlPr>
                                  <a:rPr lang="en-IN" sz="2400" i="1" smtClean="0">
                                    <a:ln w="0"/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 smtClean="0">
                                    <a:ln w="0"/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en-IN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8206685-740A-4AB7-A9E9-E683AFAC38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7928" y="1420834"/>
                  <a:ext cx="3633746" cy="87030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D78F2EA3-F3B7-4C45-8233-29AD61CB1818}"/>
                  </a:ext>
                </a:extLst>
              </p:cNvPr>
              <p:cNvSpPr/>
              <p:nvPr/>
            </p:nvSpPr>
            <p:spPr>
              <a:xfrm>
                <a:off x="426720" y="3155745"/>
                <a:ext cx="2481943" cy="2472612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e>
                          <m:r>
                            <a:rPr lang="en-IN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I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Posterior</a:t>
                </a: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I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Probability of class y given the observed features X</a:t>
                </a: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D78F2EA3-F3B7-4C45-8233-29AD61CB18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3155745"/>
                <a:ext cx="2481943" cy="247261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0AA4D7F-1B63-4A67-B194-9EE6E94E3DA1}"/>
                  </a:ext>
                </a:extLst>
              </p:cNvPr>
              <p:cNvSpPr/>
              <p:nvPr/>
            </p:nvSpPr>
            <p:spPr>
              <a:xfrm>
                <a:off x="3289618" y="3185376"/>
                <a:ext cx="2481943" cy="2472612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e>
                          <m:r>
                            <a:rPr lang="en-IN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I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Likelihood</a:t>
                </a: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I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Probability of observing features X when the given class</a:t>
                </a:r>
              </a:p>
              <a:p>
                <a:pPr algn="ctr"/>
                <a:r>
                  <a:rPr lang="en-I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Is y</a:t>
                </a: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0AA4D7F-1B63-4A67-B194-9EE6E94E3D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618" y="3185376"/>
                <a:ext cx="2481943" cy="2472612"/>
              </a:xfrm>
              <a:prstGeom prst="roundRect">
                <a:avLst/>
              </a:prstGeom>
              <a:blipFill>
                <a:blip r:embed="rId6"/>
                <a:stretch>
                  <a:fillRect b="-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877F4A7-CAA5-4257-9B33-347FC082218B}"/>
                  </a:ext>
                </a:extLst>
              </p:cNvPr>
              <p:cNvSpPr/>
              <p:nvPr/>
            </p:nvSpPr>
            <p:spPr>
              <a:xfrm>
                <a:off x="6178462" y="3185376"/>
                <a:ext cx="2481943" cy="2472612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mtClean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I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Prior</a:t>
                </a: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I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Probability of class y </a:t>
                </a:r>
                <a:r>
                  <a:rPr lang="en-IN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bedore</a:t>
                </a:r>
                <a:r>
                  <a:rPr lang="en-I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seeing any features</a:t>
                </a: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877F4A7-CAA5-4257-9B33-347FC08221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462" y="3185376"/>
                <a:ext cx="2481943" cy="247261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836EFE6F-EAF7-4C9F-96D8-A64309F4953E}"/>
                  </a:ext>
                </a:extLst>
              </p:cNvPr>
              <p:cNvSpPr/>
              <p:nvPr/>
            </p:nvSpPr>
            <p:spPr>
              <a:xfrm>
                <a:off x="9041360" y="3185376"/>
                <a:ext cx="2481943" cy="2472612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I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Evidence</a:t>
                </a: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r>
                  <a:rPr lang="en-I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Overall probability of </a:t>
                </a:r>
                <a:r>
                  <a:rPr lang="en-IN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observinf</a:t>
                </a:r>
                <a:r>
                  <a:rPr lang="en-IN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features X</a:t>
                </a: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/>
                <a:endPara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836EFE6F-EAF7-4C9F-96D8-A64309F49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1360" y="3185376"/>
                <a:ext cx="2481943" cy="2472612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D1EA9B7C-4B50-477C-9D69-64DF56499E2C}"/>
              </a:ext>
            </a:extLst>
          </p:cNvPr>
          <p:cNvSpPr/>
          <p:nvPr/>
        </p:nvSpPr>
        <p:spPr>
          <a:xfrm>
            <a:off x="1019435" y="3355416"/>
            <a:ext cx="928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4369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Bayes Formula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A6C50-3901-41AB-B430-0767A9A94AF4}"/>
              </a:ext>
            </a:extLst>
          </p:cNvPr>
          <p:cNvSpPr txBox="1"/>
          <p:nvPr/>
        </p:nvSpPr>
        <p:spPr>
          <a:xfrm>
            <a:off x="587829" y="1101012"/>
            <a:ext cx="10776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Substituting the independence assumption into Bayes theorem gives the Naïve Bayes Formula. Since , P(X) is the same for every class , it can be dropped and replaced with a proportionality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BDB97E-F197-40CF-A7A6-C1C15703A6DA}"/>
                  </a:ext>
                </a:extLst>
              </p:cNvPr>
              <p:cNvSpPr txBox="1"/>
              <p:nvPr/>
            </p:nvSpPr>
            <p:spPr>
              <a:xfrm>
                <a:off x="604747" y="2489529"/>
                <a:ext cx="94215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I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IN" sz="2800" b="1" i="1" baseline="-2500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𝒙𝒏</m:t>
                        </m:r>
                      </m:e>
                    </m:d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I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800" b="1" i="1" baseline="-2500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𝒙𝒏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800" b="1" i="1" baseline="-2500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𝒙𝒏</m:t>
                    </m:r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BDB97E-F197-40CF-A7A6-C1C15703A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47" y="2489529"/>
                <a:ext cx="942156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6591B5E-82E0-47BA-9BF1-88F737E082E8}"/>
              </a:ext>
            </a:extLst>
          </p:cNvPr>
          <p:cNvSpPr txBox="1"/>
          <p:nvPr/>
        </p:nvSpPr>
        <p:spPr>
          <a:xfrm>
            <a:off x="604747" y="3082577"/>
            <a:ext cx="4668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  Apply Independence :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A9B57C-0EB1-4083-912C-E40A233F6141}"/>
              </a:ext>
            </a:extLst>
          </p:cNvPr>
          <p:cNvGrpSpPr/>
          <p:nvPr/>
        </p:nvGrpSpPr>
        <p:grpSpPr>
          <a:xfrm>
            <a:off x="3836626" y="3097241"/>
            <a:ext cx="7528060" cy="470083"/>
            <a:chOff x="3158005" y="4029105"/>
            <a:chExt cx="7528060" cy="4700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47E510C-EC50-46CB-BD54-E1F8F6479FEB}"/>
                    </a:ext>
                  </a:extLst>
                </p:cNvPr>
                <p:cNvSpPr/>
                <p:nvPr/>
              </p:nvSpPr>
              <p:spPr>
                <a:xfrm>
                  <a:off x="3158005" y="4029105"/>
                  <a:ext cx="258507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IN" sz="2400" b="1" i="1" baseline="-2500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𝒙𝒏</m:t>
                        </m:r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400" b="1" dirty="0"/>
                </a:p>
              </p:txBody>
            </p:sp>
          </mc:Choice>
          <mc:Fallback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47E510C-EC50-46CB-BD54-E1F8F6479F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8005" y="4029105"/>
                  <a:ext cx="2585071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71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6ECC63C-A33D-4A26-9BF4-64A55010FB85}"/>
                    </a:ext>
                  </a:extLst>
                </p:cNvPr>
                <p:cNvSpPr txBox="1"/>
                <p:nvPr/>
              </p:nvSpPr>
              <p:spPr>
                <a:xfrm>
                  <a:off x="5417379" y="4037523"/>
                  <a:ext cx="526868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400" b="1" dirty="0"/>
                    <a:t>= </a:t>
                  </a:r>
                  <a14:m>
                    <m:oMath xmlns:m="http://schemas.openxmlformats.org/officeDocument/2006/math"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⊓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𝒙𝒊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2400" b="1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6ECC63C-A33D-4A26-9BF4-64A55010F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7379" y="4037523"/>
                  <a:ext cx="5268686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736" t="-10526" b="-2894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618F7-A2A5-45B0-86EE-AC59C26CCE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076" y="4198500"/>
            <a:ext cx="10669847" cy="136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0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BD146B-CE05-4131-857A-8D0A51C76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0" y="977136"/>
            <a:ext cx="12146070" cy="53156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39C231-18B3-47A6-998D-B0A1B1B0C5C1}"/>
              </a:ext>
            </a:extLst>
          </p:cNvPr>
          <p:cNvSpPr txBox="1"/>
          <p:nvPr/>
        </p:nvSpPr>
        <p:spPr>
          <a:xfrm>
            <a:off x="272716" y="176288"/>
            <a:ext cx="4812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chemeClr val="accent1">
                    <a:lumMod val="50000"/>
                  </a:schemeClr>
                </a:solidFill>
              </a:rPr>
              <a:t>Explaination</a:t>
            </a: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 of the formula </a:t>
            </a:r>
          </a:p>
        </p:txBody>
      </p:sp>
    </p:spTree>
    <p:extLst>
      <p:ext uri="{BB962C8B-B14F-4D97-AF65-F5344CB8AC3E}">
        <p14:creationId xmlns:p14="http://schemas.microsoft.com/office/powerpoint/2010/main" val="2619080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F64107-9128-4F53-A78F-6178804169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90" r="3157"/>
          <a:stretch/>
        </p:blipFill>
        <p:spPr>
          <a:xfrm>
            <a:off x="393031" y="1954942"/>
            <a:ext cx="11405937" cy="21780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7C3C49-43B3-4E50-9D17-E13B342D9C14}"/>
              </a:ext>
            </a:extLst>
          </p:cNvPr>
          <p:cNvSpPr txBox="1"/>
          <p:nvPr/>
        </p:nvSpPr>
        <p:spPr>
          <a:xfrm>
            <a:off x="393031" y="170894"/>
            <a:ext cx="5069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Workflow Of Naive Bayes</a:t>
            </a:r>
          </a:p>
        </p:txBody>
      </p:sp>
    </p:spTree>
    <p:extLst>
      <p:ext uri="{BB962C8B-B14F-4D97-AF65-F5344CB8AC3E}">
        <p14:creationId xmlns:p14="http://schemas.microsoft.com/office/powerpoint/2010/main" val="596893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9FA0EC-02B3-4C18-B3E0-87493AE2D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08469"/>
            <a:ext cx="12165123" cy="44583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5A8F35-7DB8-4167-AFDD-377B584C9E5C}"/>
              </a:ext>
            </a:extLst>
          </p:cNvPr>
          <p:cNvSpPr txBox="1"/>
          <p:nvPr/>
        </p:nvSpPr>
        <p:spPr>
          <a:xfrm>
            <a:off x="224589" y="145898"/>
            <a:ext cx="6882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Types of Naive Bayes Classifier </a:t>
            </a:r>
          </a:p>
        </p:txBody>
      </p:sp>
    </p:spTree>
    <p:extLst>
      <p:ext uri="{BB962C8B-B14F-4D97-AF65-F5344CB8AC3E}">
        <p14:creationId xmlns:p14="http://schemas.microsoft.com/office/powerpoint/2010/main" val="3423185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7C19CA-38CF-4211-AB63-261DA3A9E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72735"/>
            <a:ext cx="12075498" cy="40580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75FF28-3B8C-4A99-80FC-18ABC6DFFF1E}"/>
              </a:ext>
            </a:extLst>
          </p:cNvPr>
          <p:cNvSpPr txBox="1"/>
          <p:nvPr/>
        </p:nvSpPr>
        <p:spPr>
          <a:xfrm>
            <a:off x="352927" y="165460"/>
            <a:ext cx="6513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Applications of Naive Bayes </a:t>
            </a:r>
          </a:p>
        </p:txBody>
      </p:sp>
    </p:spTree>
    <p:extLst>
      <p:ext uri="{BB962C8B-B14F-4D97-AF65-F5344CB8AC3E}">
        <p14:creationId xmlns:p14="http://schemas.microsoft.com/office/powerpoint/2010/main" val="1158716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62D9C-3CC4-42FD-A032-7B60537ED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35" y="1926127"/>
            <a:ext cx="11493298" cy="22112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B4E83C-C361-4941-93E0-14ACE42E6E97}"/>
              </a:ext>
            </a:extLst>
          </p:cNvPr>
          <p:cNvSpPr txBox="1"/>
          <p:nvPr/>
        </p:nvSpPr>
        <p:spPr>
          <a:xfrm>
            <a:off x="252335" y="189720"/>
            <a:ext cx="5678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Practical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C79FE0-FB6D-488E-A2C0-0F1255E7E5CB}"/>
              </a:ext>
            </a:extLst>
          </p:cNvPr>
          <p:cNvSpPr txBox="1"/>
          <p:nvPr/>
        </p:nvSpPr>
        <p:spPr>
          <a:xfrm>
            <a:off x="683812" y="1137037"/>
            <a:ext cx="9151951" cy="789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701D4B-9325-43EF-9D24-689C446E2623}"/>
              </a:ext>
            </a:extLst>
          </p:cNvPr>
          <p:cNvSpPr/>
          <p:nvPr/>
        </p:nvSpPr>
        <p:spPr>
          <a:xfrm>
            <a:off x="252335" y="128893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475569"/>
                </a:solidFill>
                <a:latin typeface="DM Sans"/>
              </a:rPr>
              <a:t>Training Set:</a:t>
            </a:r>
            <a:r>
              <a:rPr lang="en-US" dirty="0">
                <a:solidFill>
                  <a:srgbClr val="475569"/>
                </a:solidFill>
                <a:latin typeface="DM Sans"/>
              </a:rPr>
              <a:t> 10 Historical Emails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222AA3-BFAF-46D0-A998-12CCC2EA4581}"/>
              </a:ext>
            </a:extLst>
          </p:cNvPr>
          <p:cNvSpPr/>
          <p:nvPr/>
        </p:nvSpPr>
        <p:spPr>
          <a:xfrm>
            <a:off x="252335" y="4570719"/>
            <a:ext cx="33556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475569"/>
                </a:solidFill>
                <a:latin typeface="DM Sans"/>
              </a:rPr>
              <a:t>New Email Arrives:</a:t>
            </a:r>
            <a:r>
              <a:rPr lang="en-US" dirty="0">
                <a:solidFill>
                  <a:srgbClr val="475569"/>
                </a:solidFill>
                <a:latin typeface="DM Sans"/>
              </a:rPr>
              <a:t> "Free Money"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1F8729A-791B-44F1-B91B-99336A166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851219"/>
              </p:ext>
            </p:extLst>
          </p:nvPr>
        </p:nvGraphicFramePr>
        <p:xfrm>
          <a:off x="252335" y="1932027"/>
          <a:ext cx="11493300" cy="2205304"/>
        </p:xfrm>
        <a:graphic>
          <a:graphicData uri="http://schemas.openxmlformats.org/drawingml/2006/table">
            <a:tbl>
              <a:tblPr/>
              <a:tblGrid>
                <a:gridCol w="2873325">
                  <a:extLst>
                    <a:ext uri="{9D8B030D-6E8A-4147-A177-3AD203B41FA5}">
                      <a16:colId xmlns:a16="http://schemas.microsoft.com/office/drawing/2014/main" val="3320099841"/>
                    </a:ext>
                  </a:extLst>
                </a:gridCol>
                <a:gridCol w="2873325">
                  <a:extLst>
                    <a:ext uri="{9D8B030D-6E8A-4147-A177-3AD203B41FA5}">
                      <a16:colId xmlns:a16="http://schemas.microsoft.com/office/drawing/2014/main" val="2840015336"/>
                    </a:ext>
                  </a:extLst>
                </a:gridCol>
                <a:gridCol w="2873325">
                  <a:extLst>
                    <a:ext uri="{9D8B030D-6E8A-4147-A177-3AD203B41FA5}">
                      <a16:colId xmlns:a16="http://schemas.microsoft.com/office/drawing/2014/main" val="2047226918"/>
                    </a:ext>
                  </a:extLst>
                </a:gridCol>
                <a:gridCol w="2873325">
                  <a:extLst>
                    <a:ext uri="{9D8B030D-6E8A-4147-A177-3AD203B41FA5}">
                      <a16:colId xmlns:a16="http://schemas.microsoft.com/office/drawing/2014/main" val="854392650"/>
                    </a:ext>
                  </a:extLst>
                </a:gridCol>
              </a:tblGrid>
              <a:tr h="551326"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solidFill>
                            <a:srgbClr val="FFFFFF"/>
                          </a:solidFill>
                          <a:effectLst/>
                        </a:rPr>
                        <a:t>Email Type</a:t>
                      </a: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solidFill>
                            <a:srgbClr val="FFFFFF"/>
                          </a:solidFill>
                          <a:effectLst/>
                        </a:rPr>
                        <a:t>Total Count</a:t>
                      </a: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solidFill>
                            <a:srgbClr val="FFFFFF"/>
                          </a:solidFill>
                          <a:effectLst/>
                        </a:rPr>
                        <a:t>Contains "Free"</a:t>
                      </a: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>
                          <a:solidFill>
                            <a:srgbClr val="FFFFFF"/>
                          </a:solidFill>
                          <a:effectLst/>
                        </a:rPr>
                        <a:t>Contains "Money"</a:t>
                      </a: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451177"/>
                  </a:ext>
                </a:extLst>
              </a:tr>
              <a:tr h="551326">
                <a:tc>
                  <a:txBody>
                    <a:bodyPr/>
                    <a:lstStyle/>
                    <a:p>
                      <a:r>
                        <a:rPr lang="en-IN" sz="1700" b="1">
                          <a:effectLst/>
                        </a:rPr>
                        <a:t>Spam</a:t>
                      </a:r>
                      <a:endParaRPr lang="en-IN" sz="1700">
                        <a:effectLst/>
                      </a:endParaRP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4</a:t>
                      </a: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</a:rPr>
                        <a:t>4</a:t>
                      </a: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</a:rPr>
                        <a:t>3</a:t>
                      </a: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088290"/>
                  </a:ext>
                </a:extLst>
              </a:tr>
              <a:tr h="551326">
                <a:tc>
                  <a:txBody>
                    <a:bodyPr/>
                    <a:lstStyle/>
                    <a:p>
                      <a:r>
                        <a:rPr lang="en-IN" sz="1700" b="1" dirty="0">
                          <a:effectLst/>
                        </a:rPr>
                        <a:t>Ham (Normal)</a:t>
                      </a:r>
                      <a:endParaRPr lang="en-IN" sz="1700" dirty="0">
                        <a:effectLst/>
                      </a:endParaRP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</a:rPr>
                        <a:t>6</a:t>
                      </a: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effectLst/>
                        </a:rPr>
                        <a:t>1</a:t>
                      </a: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effectLst/>
                        </a:rPr>
                        <a:t>1</a:t>
                      </a: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73344"/>
                  </a:ext>
                </a:extLst>
              </a:tr>
              <a:tr h="551326">
                <a:tc>
                  <a:txBody>
                    <a:bodyPr/>
                    <a:lstStyle/>
                    <a:p>
                      <a:r>
                        <a:rPr lang="en-IN" sz="1700" b="1">
                          <a:effectLst/>
                        </a:rPr>
                        <a:t>Total</a:t>
                      </a:r>
                      <a:endParaRPr lang="en-IN" sz="1700">
                        <a:effectLst/>
                      </a:endParaRP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effectLst/>
                        </a:rPr>
                        <a:t>10</a:t>
                      </a:r>
                      <a:endParaRPr lang="en-IN" sz="1700">
                        <a:effectLst/>
                      </a:endParaRP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effectLst/>
                        </a:rPr>
                        <a:t>5</a:t>
                      </a:r>
                      <a:endParaRPr lang="en-IN" sz="1700">
                        <a:effectLst/>
                      </a:endParaRP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 dirty="0">
                          <a:effectLst/>
                        </a:rPr>
                        <a:t>4</a:t>
                      </a:r>
                      <a:endParaRPr lang="en-IN" sz="1700" dirty="0">
                        <a:effectLst/>
                      </a:endParaRPr>
                    </a:p>
                  </a:txBody>
                  <a:tcPr marL="135978" marR="135978" marT="135978" marB="13597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72319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62C1CCA0-4D57-4720-BF5B-BB728E5B5883}"/>
              </a:ext>
            </a:extLst>
          </p:cNvPr>
          <p:cNvSpPr/>
          <p:nvPr/>
        </p:nvSpPr>
        <p:spPr>
          <a:xfrm>
            <a:off x="349857" y="1995955"/>
            <a:ext cx="11395776" cy="5246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399F24-7F50-43C2-874A-B854A6C47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855" y="2007447"/>
            <a:ext cx="11395776" cy="52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83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645203C-AED7-49D1-92E2-97570BBE5838}"/>
              </a:ext>
            </a:extLst>
          </p:cNvPr>
          <p:cNvSpPr/>
          <p:nvPr/>
        </p:nvSpPr>
        <p:spPr>
          <a:xfrm>
            <a:off x="336885" y="1155032"/>
            <a:ext cx="3641558" cy="212958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E85C190-B0F4-47BB-AB8C-C262371A6154}"/>
              </a:ext>
            </a:extLst>
          </p:cNvPr>
          <p:cNvSpPr/>
          <p:nvPr/>
        </p:nvSpPr>
        <p:spPr>
          <a:xfrm>
            <a:off x="5165558" y="1155032"/>
            <a:ext cx="5646821" cy="487545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4357C8-618B-4F7D-B4D4-DCEA67625755}"/>
                  </a:ext>
                </a:extLst>
              </p:cNvPr>
              <p:cNvSpPr txBox="1"/>
              <p:nvPr/>
            </p:nvSpPr>
            <p:spPr>
              <a:xfrm>
                <a:off x="465221" y="1524000"/>
                <a:ext cx="3962401" cy="1273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Step 1 : Calculate priors </a:t>
                </a:r>
              </a:p>
              <a:p>
                <a:r>
                  <a:rPr lang="en-IN" sz="2000" dirty="0"/>
                  <a:t>        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𝑠𝑝𝑎𝑚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endParaRPr lang="en-IN" sz="2000" b="0" dirty="0"/>
              </a:p>
              <a:p>
                <a:r>
                  <a:rPr lang="en-IN" sz="2000" dirty="0"/>
                  <a:t>        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h𝑎𝑚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 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endParaRPr lang="en-IN" sz="2000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4357C8-618B-4F7D-B4D4-DCEA67625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21" y="1524000"/>
                <a:ext cx="3962401" cy="1273169"/>
              </a:xfrm>
              <a:prstGeom prst="rect">
                <a:avLst/>
              </a:prstGeom>
              <a:blipFill>
                <a:blip r:embed="rId4"/>
                <a:stretch>
                  <a:fillRect l="-1538" t="-23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715B39-3C1D-459C-AF6F-4E5A69EA48F9}"/>
                  </a:ext>
                </a:extLst>
              </p:cNvPr>
              <p:cNvSpPr txBox="1"/>
              <p:nvPr/>
            </p:nvSpPr>
            <p:spPr>
              <a:xfrm>
                <a:off x="5454315" y="1623387"/>
                <a:ext cx="4973054" cy="4407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Step 2 : Calculate the likelihoods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    for spam class </a:t>
                </a:r>
              </a:p>
              <a:p>
                <a:r>
                  <a:rPr lang="en-IN" dirty="0"/>
                  <a:t>                 </a:t>
                </a:r>
                <a:r>
                  <a:rPr lang="en-US" dirty="0"/>
                  <a:t>Probability of "Free" given it's Spam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Free</m:t>
                          </m:r>
                        </m:e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𝑠𝑝𝑎𝑚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=0.75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                 </a:t>
                </a:r>
                <a:r>
                  <a:rPr lang="en-US" dirty="0"/>
                  <a:t>Probability of "Money" given it's Spam</a:t>
                </a:r>
              </a:p>
              <a:p>
                <a:r>
                  <a:rPr lang="en-US" dirty="0"/>
                  <a:t>         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money</m:t>
                        </m:r>
                      </m: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𝑠𝑝𝑎𝑚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=0.50</m:t>
                    </m:r>
                  </m:oMath>
                </a14:m>
                <a:endParaRPr lang="en-IN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For the ham class </a:t>
                </a:r>
              </a:p>
              <a:p>
                <a:r>
                  <a:rPr lang="en-IN" dirty="0"/>
                  <a:t>                 </a:t>
                </a:r>
                <a:r>
                  <a:rPr lang="en-US" dirty="0"/>
                  <a:t>Probability of "Free" given it's Ham</a:t>
                </a:r>
              </a:p>
              <a:p>
                <a:r>
                  <a:rPr lang="en-US" dirty="0"/>
                  <a:t>                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</a:rPr>
                          <m:t>Free</m:t>
                        </m:r>
                      </m:e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h𝑎𝑚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167</m:t>
                    </m:r>
                  </m:oMath>
                </a14:m>
                <a:endParaRPr lang="en-IN" b="0" dirty="0"/>
              </a:p>
              <a:p>
                <a:r>
                  <a:rPr lang="en-US" dirty="0"/>
                  <a:t>                 Probability of "Money" given it's Ham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money</m:t>
                          </m:r>
                        </m:e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𝑎𝑚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167</m:t>
                      </m:r>
                    </m:oMath>
                  </m:oMathPara>
                </a14:m>
                <a:endParaRPr lang="en-IN" b="0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715B39-3C1D-459C-AF6F-4E5A69EA4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315" y="1623387"/>
                <a:ext cx="4973054" cy="4407104"/>
              </a:xfrm>
              <a:prstGeom prst="rect">
                <a:avLst/>
              </a:prstGeom>
              <a:blipFill>
                <a:blip r:embed="rId5"/>
                <a:stretch>
                  <a:fillRect l="-1103" t="-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C2E7B01-3F51-4C08-ACCE-081951A3BC57}"/>
              </a:ext>
            </a:extLst>
          </p:cNvPr>
          <p:cNvSpPr txBox="1"/>
          <p:nvPr/>
        </p:nvSpPr>
        <p:spPr>
          <a:xfrm>
            <a:off x="252335" y="189720"/>
            <a:ext cx="5678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Practical Example</a:t>
            </a:r>
          </a:p>
        </p:txBody>
      </p:sp>
    </p:spTree>
    <p:extLst>
      <p:ext uri="{BB962C8B-B14F-4D97-AF65-F5344CB8AC3E}">
        <p14:creationId xmlns:p14="http://schemas.microsoft.com/office/powerpoint/2010/main" val="483186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788999-A2A3-476F-9D49-0E4D0BB391AE}"/>
              </a:ext>
            </a:extLst>
          </p:cNvPr>
          <p:cNvSpPr/>
          <p:nvPr/>
        </p:nvSpPr>
        <p:spPr>
          <a:xfrm>
            <a:off x="2181726" y="2721605"/>
            <a:ext cx="6448926" cy="203453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FE6CE3-020F-4985-B1F2-8BDBAC9F4AC6}"/>
              </a:ext>
            </a:extLst>
          </p:cNvPr>
          <p:cNvSpPr/>
          <p:nvPr/>
        </p:nvSpPr>
        <p:spPr>
          <a:xfrm>
            <a:off x="2181726" y="1054913"/>
            <a:ext cx="6448926" cy="15886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07CD64-750B-48F8-A65C-EBF61868A61B}"/>
                  </a:ext>
                </a:extLst>
              </p:cNvPr>
              <p:cNvSpPr txBox="1"/>
              <p:nvPr/>
            </p:nvSpPr>
            <p:spPr>
              <a:xfrm>
                <a:off x="2596101" y="1109606"/>
                <a:ext cx="6448926" cy="3380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Step 3 : </a:t>
                </a:r>
                <a:r>
                  <a:rPr lang="en-US" dirty="0"/>
                  <a:t>Apply the "Naive" Independence Multiplication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Calculating the Spam Score </a:t>
                </a:r>
              </a:p>
              <a:p>
                <a:r>
                  <a:rPr lang="en-IN" dirty="0"/>
                  <a:t>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𝑠𝑐𝑜𝑟𝑒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𝑠𝑝𝑎𝑚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=0.4∗0.75∗0.50</m:t>
                    </m:r>
                  </m:oMath>
                </a14:m>
                <a:r>
                  <a:rPr lang="en-IN" b="0" dirty="0"/>
                  <a:t> =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0.15</m:t>
                    </m:r>
                  </m:oMath>
                </a14:m>
                <a:endParaRPr lang="en-IN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b="0" dirty="0"/>
                  <a:t>Calculating the ham score </a:t>
                </a:r>
              </a:p>
              <a:p>
                <a:r>
                  <a:rPr lang="en-IN" b="0" dirty="0"/>
                  <a:t>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𝑠𝑐𝑜𝑟𝑒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h𝑎𝑚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=0.6∗0.167∗0.167=0.0167</m:t>
                    </m:r>
                  </m:oMath>
                </a14:m>
                <a:endParaRPr lang="en-IN" b="0" dirty="0"/>
              </a:p>
              <a:p>
                <a:endParaRPr lang="en-IN" b="0" dirty="0"/>
              </a:p>
              <a:p>
                <a:r>
                  <a:rPr lang="en-IN" dirty="0"/>
                  <a:t>Step 4 : Normalize to get percentage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Calculate final spam probability </a:t>
                </a:r>
              </a:p>
              <a:p>
                <a:r>
                  <a:rPr lang="en-IN" b="0" dirty="0"/>
                  <a:t> 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𝑠𝑝𝑎𝑚</m:t>
                        </m:r>
                      </m:e>
                      <m:e>
                        <m:r>
                          <m:rPr>
                            <m:nor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Free</m:t>
                        </m:r>
                        <m:r>
                          <m:rPr>
                            <m:nor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money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0.15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0.1667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=0.90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90%</m:t>
                        </m:r>
                      </m:e>
                    </m:d>
                  </m:oMath>
                </a14:m>
                <a:endParaRPr lang="en-IN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b="0" dirty="0"/>
                  <a:t>Calculate final ham probability </a:t>
                </a:r>
              </a:p>
              <a:p>
                <a:r>
                  <a:rPr lang="en-IN" dirty="0"/>
                  <a:t>        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𝑎𝑚</m:t>
                        </m:r>
                      </m:e>
                      <m:e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</a:rPr>
                          <m:t>Free</m:t>
                        </m:r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</a:rPr>
                          <m:t>money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0167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0.1667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0%</m:t>
                        </m:r>
                      </m:e>
                    </m:d>
                  </m:oMath>
                </a14:m>
                <a:r>
                  <a:rPr lang="en-IN" b="0" dirty="0"/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07CD64-750B-48F8-A65C-EBF61868A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101" y="1109606"/>
                <a:ext cx="6448926" cy="3380028"/>
              </a:xfrm>
              <a:prstGeom prst="rect">
                <a:avLst/>
              </a:prstGeom>
              <a:blipFill>
                <a:blip r:embed="rId4"/>
                <a:stretch>
                  <a:fillRect l="-851" t="-9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A53F778-C9A9-453F-BE42-0ADB0E915B4B}"/>
              </a:ext>
            </a:extLst>
          </p:cNvPr>
          <p:cNvSpPr/>
          <p:nvPr/>
        </p:nvSpPr>
        <p:spPr>
          <a:xfrm>
            <a:off x="465501" y="492507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The Final Verdict</a:t>
            </a:r>
          </a:p>
          <a:p>
            <a:r>
              <a:rPr lang="en-US" dirty="0"/>
              <a:t>Because </a:t>
            </a:r>
            <a:r>
              <a:rPr lang="en-US" b="1" dirty="0"/>
              <a:t>90%</a:t>
            </a:r>
            <a:r>
              <a:rPr lang="en-US" dirty="0"/>
              <a:t> is significantly higher than </a:t>
            </a:r>
            <a:r>
              <a:rPr lang="en-US" b="1" dirty="0"/>
              <a:t>10%</a:t>
            </a:r>
            <a:r>
              <a:rPr lang="en-US" dirty="0"/>
              <a:t>, the Naive Bayes algorithm confidently classifies the email "Free Money" as </a:t>
            </a:r>
            <a:r>
              <a:rPr lang="en-US" b="1" dirty="0"/>
              <a:t>Spam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A4906D-F78D-4925-9642-F7F29245D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234" y="5213390"/>
            <a:ext cx="2962688" cy="7430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07D3B2-E75E-4D55-8620-58F9560DFF7A}"/>
              </a:ext>
            </a:extLst>
          </p:cNvPr>
          <p:cNvSpPr txBox="1"/>
          <p:nvPr/>
        </p:nvSpPr>
        <p:spPr>
          <a:xfrm>
            <a:off x="9459402" y="4751328"/>
            <a:ext cx="922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5B39F1-2803-48FF-B046-53E1A93CFD06}"/>
              </a:ext>
            </a:extLst>
          </p:cNvPr>
          <p:cNvSpPr txBox="1"/>
          <p:nvPr/>
        </p:nvSpPr>
        <p:spPr>
          <a:xfrm>
            <a:off x="252335" y="189720"/>
            <a:ext cx="5678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Practical Example</a:t>
            </a:r>
          </a:p>
        </p:txBody>
      </p:sp>
    </p:spTree>
    <p:extLst>
      <p:ext uri="{BB962C8B-B14F-4D97-AF65-F5344CB8AC3E}">
        <p14:creationId xmlns:p14="http://schemas.microsoft.com/office/powerpoint/2010/main" val="338127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6C3A9-D261-4ED4-B6A7-1DBA6FADDEE2}"/>
              </a:ext>
            </a:extLst>
          </p:cNvPr>
          <p:cNvSpPr txBox="1"/>
          <p:nvPr/>
        </p:nvSpPr>
        <p:spPr>
          <a:xfrm>
            <a:off x="294197" y="189720"/>
            <a:ext cx="5239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References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99087-85BD-4725-8B5C-D57F91BDB82F}"/>
              </a:ext>
            </a:extLst>
          </p:cNvPr>
          <p:cNvSpPr txBox="1"/>
          <p:nvPr/>
        </p:nvSpPr>
        <p:spPr>
          <a:xfrm>
            <a:off x="461175" y="1243970"/>
            <a:ext cx="7680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scikit</a:t>
            </a:r>
            <a:r>
              <a:rPr lang="en-US" dirty="0"/>
              <a:t>-learn developers. "Naive Bayes." </a:t>
            </a:r>
            <a:r>
              <a:rPr lang="en-US" i="1" dirty="0" err="1"/>
              <a:t>scikit</a:t>
            </a:r>
            <a:r>
              <a:rPr lang="en-US" i="1" dirty="0"/>
              <a:t>-learn documentation</a:t>
            </a:r>
            <a:r>
              <a:rPr lang="en-US" dirty="0"/>
              <a:t>. </a:t>
            </a:r>
            <a:r>
              <a:rPr lang="en-US" dirty="0">
                <a:hlinkClick r:id="rId4"/>
              </a:rPr>
              <a:t>https://scikit-learn.org/stable/modules/naive_bayes.html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Wikipedia contributors. "Naive Bayes classifier." </a:t>
            </a:r>
            <a:r>
              <a:rPr lang="en-US" i="1" dirty="0"/>
              <a:t>Wikipedia</a:t>
            </a:r>
            <a:r>
              <a:rPr lang="en-US" dirty="0"/>
              <a:t>. </a:t>
            </a:r>
            <a:r>
              <a:rPr lang="en-US" dirty="0">
                <a:hlinkClick r:id="rId5"/>
              </a:rPr>
              <a:t>https://en.wikipedia.org/wiki/Naive_Bayes_classifier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381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A82069-69A7-489B-A5BA-85A4327B0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602" y="2296866"/>
            <a:ext cx="4448796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2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60000"/>
            <a:lumOff val="4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3773</TotalTime>
  <Words>702</Words>
  <Application>Microsoft Office PowerPoint</Application>
  <PresentationFormat>Widescreen</PresentationFormat>
  <Paragraphs>128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Arimo</vt:lpstr>
      <vt:lpstr>Calibri</vt:lpstr>
      <vt:lpstr>Calibri Light</vt:lpstr>
      <vt:lpstr>Cambria Math</vt:lpstr>
      <vt:lpstr>DM Sans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USER1</cp:lastModifiedBy>
  <cp:revision>62</cp:revision>
  <dcterms:created xsi:type="dcterms:W3CDTF">2026-06-30T05:21:33Z</dcterms:created>
  <dcterms:modified xsi:type="dcterms:W3CDTF">2026-07-08T10:24:26Z</dcterms:modified>
</cp:coreProperties>
</file>