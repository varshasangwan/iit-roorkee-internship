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8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2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C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871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61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871226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&amp; Failure-Mode Analysis</a:t>
            </a:r>
            <a:endParaRPr lang="en-US" sz="3600" b="1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Varsha </a:t>
            </a:r>
            <a:r>
              <a:rPr lang="en-US" sz="1467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Sangwan</a:t>
            </a:r>
            <a:endParaRPr lang="en-US" sz="1467" dirty="0"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Riya &amp; Mr. </a:t>
            </a:r>
            <a:r>
              <a:rPr lang="en-US" sz="1467" b="1" dirty="0" err="1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Harjeet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Singh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34DB797-4077-400B-858F-036AE7E2C211}"/>
              </a:ext>
            </a:extLst>
          </p:cNvPr>
          <p:cNvSpPr/>
          <p:nvPr/>
        </p:nvSpPr>
        <p:spPr>
          <a:xfrm>
            <a:off x="286327" y="1247370"/>
            <a:ext cx="11526982" cy="4833645"/>
          </a:xfrm>
          <a:prstGeom prst="roundRect">
            <a:avLst/>
          </a:prstGeom>
          <a:blipFill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0634" y="2080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Predictive Maintenance Matters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3491" y="1653417"/>
            <a:ext cx="10252364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Charkhi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Dadri and the wider Haryana </a:t>
            </a:r>
            <a:r>
              <a:rPr lang="en-US" sz="1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Aravali</a:t>
            </a: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belt host dozens of stone-crushing and mining units — heavy rotating machinery running continuously under dust, vibration and load.</a:t>
            </a:r>
            <a:endParaRPr lang="en-US" sz="1600" b="1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 such plants, an unplanned crusher or conveyor breakdown halts the entire production line — costing far more than routine servicing ever would.</a:t>
            </a:r>
            <a:endParaRPr lang="en-US" sz="1600" b="1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machine-learning system that predicts failure before it happens and diagnoses which failure mechanism is responsible — a methodology directly transferable to crusher, mill and conveyor equipment.</a:t>
            </a:r>
            <a:endParaRPr lang="en-US" sz="1600" b="1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Because plant-specific sensor logs are rarely public, the model is built and validated on the AI4I 2020 industrial milling-machine dataset — a widely used benchmark with the same core sensor variables (temperature, torque, rotational speed, tool wear).</a:t>
            </a:r>
            <a:endParaRPr lang="en-US" sz="16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421662-50E7-40BF-9EB5-AFEC9EBA2F54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0CBE8B-9E2F-41CE-9CDF-AFA90FA5516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F112096-406C-4028-A277-EC90CB39B53C}"/>
              </a:ext>
            </a:extLst>
          </p:cNvPr>
          <p:cNvSpPr/>
          <p:nvPr/>
        </p:nvSpPr>
        <p:spPr>
          <a:xfrm>
            <a:off x="0" y="6704692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3FF624-4544-4622-A4A9-BE344FB8CF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E5FA40-94D6-429B-BCA9-2773CBE2434F}"/>
              </a:ext>
            </a:extLst>
          </p:cNvPr>
          <p:cNvSpPr/>
          <p:nvPr/>
        </p:nvSpPr>
        <p:spPr>
          <a:xfrm>
            <a:off x="127221" y="6384652"/>
            <a:ext cx="373413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07666" y="196342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17373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Pipeline</a:t>
            </a:r>
            <a:endParaRPr lang="en-US" sz="2000" b="1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5212080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1234440" y="26060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000" b="1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5212080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000" b="1" dirty="0"/>
          </a:p>
        </p:txBody>
      </p:sp>
      <p:sp>
        <p:nvSpPr>
          <p:cNvPr id="13" name="Shape 11"/>
          <p:cNvSpPr/>
          <p:nvPr/>
        </p:nvSpPr>
        <p:spPr>
          <a:xfrm>
            <a:off x="548640" y="4224528"/>
            <a:ext cx="5212080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34440" y="43434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Analysis</a:t>
            </a:r>
            <a:endParaRPr lang="en-US" sz="2000" b="1" dirty="0"/>
          </a:p>
        </p:txBody>
      </p:sp>
      <p:sp>
        <p:nvSpPr>
          <p:cNvPr id="16" name="Shape 14"/>
          <p:cNvSpPr/>
          <p:nvPr/>
        </p:nvSpPr>
        <p:spPr>
          <a:xfrm>
            <a:off x="548640" y="5093208"/>
            <a:ext cx="5212080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52120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Engineering</a:t>
            </a:r>
            <a:endParaRPr lang="en-US" sz="2000" b="1" dirty="0"/>
          </a:p>
        </p:txBody>
      </p:sp>
      <p:sp>
        <p:nvSpPr>
          <p:cNvPr id="19" name="Text 17"/>
          <p:cNvSpPr/>
          <p:nvPr/>
        </p:nvSpPr>
        <p:spPr>
          <a:xfrm>
            <a:off x="621792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03720" y="173736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</a:t>
            </a:r>
            <a:endParaRPr lang="en-US" sz="2000" b="1" dirty="0"/>
          </a:p>
        </p:txBody>
      </p:sp>
      <p:sp>
        <p:nvSpPr>
          <p:cNvPr id="21" name="Shape 19"/>
          <p:cNvSpPr/>
          <p:nvPr/>
        </p:nvSpPr>
        <p:spPr>
          <a:xfrm>
            <a:off x="6217920" y="2487168"/>
            <a:ext cx="5212080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903720" y="26060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&amp; Comparison</a:t>
            </a:r>
            <a:endParaRPr lang="en-US" sz="2000" b="1" dirty="0"/>
          </a:p>
        </p:txBody>
      </p:sp>
      <p:sp>
        <p:nvSpPr>
          <p:cNvPr id="24" name="Shape 22"/>
          <p:cNvSpPr/>
          <p:nvPr/>
        </p:nvSpPr>
        <p:spPr>
          <a:xfrm>
            <a:off x="6217920" y="3355848"/>
            <a:ext cx="5212080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03720" y="34747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Failure Diagnosis</a:t>
            </a:r>
            <a:endParaRPr lang="en-US" sz="2000" b="1" dirty="0"/>
          </a:p>
        </p:txBody>
      </p:sp>
      <p:sp>
        <p:nvSpPr>
          <p:cNvPr id="27" name="Shape 25"/>
          <p:cNvSpPr/>
          <p:nvPr/>
        </p:nvSpPr>
        <p:spPr>
          <a:xfrm>
            <a:off x="6217920" y="4224528"/>
            <a:ext cx="5212080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03720" y="43434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2000" b="1" dirty="0"/>
          </a:p>
        </p:txBody>
      </p:sp>
      <p:sp>
        <p:nvSpPr>
          <p:cNvPr id="30" name="Shape 28"/>
          <p:cNvSpPr/>
          <p:nvPr/>
        </p:nvSpPr>
        <p:spPr>
          <a:xfrm>
            <a:off x="6217920" y="5093208"/>
            <a:ext cx="5212080" cy="0"/>
          </a:xfrm>
          <a:prstGeom prst="line">
            <a:avLst/>
          </a:prstGeom>
          <a:noFill/>
          <a:ln w="12700">
            <a:solidFill>
              <a:srgbClr val="D9D6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5212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6903720" y="52120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b="1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92D68EB-A252-4184-B919-4309C7BFE2F5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3A97DFA-9CED-4FD2-8416-03CC0ACD09D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A124740-F442-4E24-8F33-B3537DEB23EF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FE4BE67-910A-405F-8F93-346EC3C13C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C017AE0-311D-47C2-B80A-5AB889F4F3EC}"/>
              </a:ext>
            </a:extLst>
          </p:cNvPr>
          <p:cNvSpPr/>
          <p:nvPr/>
        </p:nvSpPr>
        <p:spPr>
          <a:xfrm>
            <a:off x="127221" y="6313932"/>
            <a:ext cx="373413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7813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9114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Methodology Pipeline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4272" y="2423160"/>
            <a:ext cx="1261872" cy="960120"/>
          </a:xfrm>
          <a:prstGeom prst="roundRect">
            <a:avLst>
              <a:gd name="adj" fmla="val 7619"/>
            </a:avLst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sp>
      <p:sp>
        <p:nvSpPr>
          <p:cNvPr id="6" name="Text 4"/>
          <p:cNvSpPr/>
          <p:nvPr/>
        </p:nvSpPr>
        <p:spPr>
          <a:xfrm>
            <a:off x="362560" y="2423160"/>
            <a:ext cx="1261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600" b="1" dirty="0"/>
          </a:p>
        </p:txBody>
      </p:sp>
      <p:sp>
        <p:nvSpPr>
          <p:cNvPr id="7" name="Shape 5"/>
          <p:cNvSpPr/>
          <p:nvPr/>
        </p:nvSpPr>
        <p:spPr>
          <a:xfrm>
            <a:off x="1606144" y="2839212"/>
            <a:ext cx="201168" cy="128016"/>
          </a:xfrm>
          <a:prstGeom prst="rightArrow">
            <a:avLst/>
          </a:prstGeom>
          <a:solidFill>
            <a:srgbClr val="6B6862"/>
          </a:solidFill>
          <a:ln/>
        </p:spPr>
      </p:sp>
      <p:sp>
        <p:nvSpPr>
          <p:cNvPr id="8" name="Shape 6"/>
          <p:cNvSpPr/>
          <p:nvPr/>
        </p:nvSpPr>
        <p:spPr>
          <a:xfrm>
            <a:off x="1789024" y="2423160"/>
            <a:ext cx="1261872" cy="960120"/>
          </a:xfrm>
          <a:prstGeom prst="roundRect">
            <a:avLst>
              <a:gd name="adj" fmla="val 7619"/>
            </a:avLst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sp>
      <p:sp>
        <p:nvSpPr>
          <p:cNvPr id="9" name="Text 7"/>
          <p:cNvSpPr/>
          <p:nvPr/>
        </p:nvSpPr>
        <p:spPr>
          <a:xfrm>
            <a:off x="1789024" y="2423160"/>
            <a:ext cx="1261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032608" y="2839212"/>
            <a:ext cx="201168" cy="128016"/>
          </a:xfrm>
          <a:prstGeom prst="rightArrow">
            <a:avLst/>
          </a:prstGeom>
          <a:solidFill>
            <a:srgbClr val="6B6862"/>
          </a:solidFill>
          <a:ln/>
        </p:spPr>
      </p:sp>
      <p:sp>
        <p:nvSpPr>
          <p:cNvPr id="11" name="Shape 9"/>
          <p:cNvSpPr/>
          <p:nvPr/>
        </p:nvSpPr>
        <p:spPr>
          <a:xfrm>
            <a:off x="3215488" y="2423160"/>
            <a:ext cx="1261872" cy="960120"/>
          </a:xfrm>
          <a:prstGeom prst="roundRect">
            <a:avLst>
              <a:gd name="adj" fmla="val 7619"/>
            </a:avLst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sp>
      <p:sp>
        <p:nvSpPr>
          <p:cNvPr id="12" name="Text 10"/>
          <p:cNvSpPr/>
          <p:nvPr/>
        </p:nvSpPr>
        <p:spPr>
          <a:xfrm>
            <a:off x="3215488" y="2423160"/>
            <a:ext cx="1261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Failure </a:t>
            </a: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6504" y="2839212"/>
            <a:ext cx="201168" cy="128016"/>
          </a:xfrm>
          <a:prstGeom prst="rightArrow">
            <a:avLst/>
          </a:prstGeom>
          <a:solidFill>
            <a:srgbClr val="6B686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Shape 12"/>
          <p:cNvSpPr/>
          <p:nvPr/>
        </p:nvSpPr>
        <p:spPr>
          <a:xfrm>
            <a:off x="4751680" y="2423160"/>
            <a:ext cx="1261872" cy="960120"/>
          </a:xfrm>
          <a:prstGeom prst="roundRect">
            <a:avLst>
              <a:gd name="adj" fmla="val 7619"/>
            </a:avLst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sp>
      <p:sp>
        <p:nvSpPr>
          <p:cNvPr id="15" name="Text 13"/>
          <p:cNvSpPr/>
          <p:nvPr/>
        </p:nvSpPr>
        <p:spPr>
          <a:xfrm>
            <a:off x="4611538" y="2423160"/>
            <a:ext cx="153619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93276" y="2840206"/>
            <a:ext cx="201168" cy="128016"/>
          </a:xfrm>
          <a:prstGeom prst="rightArrow">
            <a:avLst/>
          </a:prstGeom>
          <a:solidFill>
            <a:srgbClr val="6B6862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8144" y="2423160"/>
            <a:ext cx="1261872" cy="960120"/>
          </a:xfrm>
          <a:prstGeom prst="roundRect">
            <a:avLst>
              <a:gd name="adj" fmla="val 7619"/>
            </a:avLst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sp>
      <p:sp>
        <p:nvSpPr>
          <p:cNvPr id="18" name="Text 16"/>
          <p:cNvSpPr/>
          <p:nvPr/>
        </p:nvSpPr>
        <p:spPr>
          <a:xfrm>
            <a:off x="6178144" y="2423160"/>
            <a:ext cx="1261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Imbalance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Handling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21728" y="2839212"/>
            <a:ext cx="201168" cy="128016"/>
          </a:xfrm>
          <a:prstGeom prst="rightArrow">
            <a:avLst/>
          </a:prstGeom>
          <a:solidFill>
            <a:srgbClr val="6B6862"/>
          </a:solidFill>
          <a:ln/>
        </p:spPr>
      </p:sp>
      <p:sp>
        <p:nvSpPr>
          <p:cNvPr id="20" name="Shape 18"/>
          <p:cNvSpPr/>
          <p:nvPr/>
        </p:nvSpPr>
        <p:spPr>
          <a:xfrm>
            <a:off x="7604608" y="2423160"/>
            <a:ext cx="1261872" cy="960120"/>
          </a:xfrm>
          <a:prstGeom prst="roundRect">
            <a:avLst>
              <a:gd name="adj" fmla="val 7619"/>
            </a:avLst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sp>
      <p:sp>
        <p:nvSpPr>
          <p:cNvPr id="21" name="Text 19"/>
          <p:cNvSpPr/>
          <p:nvPr/>
        </p:nvSpPr>
        <p:spPr>
          <a:xfrm>
            <a:off x="7604608" y="2423160"/>
            <a:ext cx="1261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600" b="1" dirty="0"/>
          </a:p>
        </p:txBody>
      </p:sp>
      <p:sp>
        <p:nvSpPr>
          <p:cNvPr id="22" name="Shape 20"/>
          <p:cNvSpPr/>
          <p:nvPr/>
        </p:nvSpPr>
        <p:spPr>
          <a:xfrm>
            <a:off x="8848192" y="2839212"/>
            <a:ext cx="201168" cy="128016"/>
          </a:xfrm>
          <a:prstGeom prst="rightArrow">
            <a:avLst/>
          </a:prstGeom>
          <a:solidFill>
            <a:srgbClr val="6B6862"/>
          </a:solidFill>
          <a:ln/>
        </p:spPr>
      </p:sp>
      <p:sp>
        <p:nvSpPr>
          <p:cNvPr id="23" name="Shape 21"/>
          <p:cNvSpPr/>
          <p:nvPr/>
        </p:nvSpPr>
        <p:spPr>
          <a:xfrm>
            <a:off x="9031072" y="2423160"/>
            <a:ext cx="1261872" cy="960120"/>
          </a:xfrm>
          <a:prstGeom prst="roundRect">
            <a:avLst>
              <a:gd name="adj" fmla="val 7619"/>
            </a:avLst>
          </a:prstGeom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sp>
      <p:sp>
        <p:nvSpPr>
          <p:cNvPr id="24" name="Text 22"/>
          <p:cNvSpPr/>
          <p:nvPr/>
        </p:nvSpPr>
        <p:spPr>
          <a:xfrm>
            <a:off x="9031072" y="2423160"/>
            <a:ext cx="1261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274656" y="2839212"/>
            <a:ext cx="201168" cy="128016"/>
          </a:xfrm>
          <a:prstGeom prst="rightArrow">
            <a:avLst/>
          </a:prstGeom>
          <a:solidFill>
            <a:srgbClr val="6B6862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71840" y="2420874"/>
            <a:ext cx="1261872" cy="960120"/>
          </a:xfrm>
          <a:prstGeom prst="roundRect">
            <a:avLst>
              <a:gd name="adj" fmla="val 7619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sp>
      <p:sp>
        <p:nvSpPr>
          <p:cNvPr id="27" name="Text 25"/>
          <p:cNvSpPr/>
          <p:nvPr/>
        </p:nvSpPr>
        <p:spPr>
          <a:xfrm>
            <a:off x="10457536" y="2423160"/>
            <a:ext cx="126187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14400" y="3794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754880"/>
            <a:ext cx="11091672" cy="1417320"/>
          </a:xfrm>
          <a:prstGeom prst="rect">
            <a:avLst/>
          </a:prstGeom>
          <a:solidFill>
            <a:srgbClr val="FAFAF8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" y="516636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/ NumPy  ·  scikit-learn  ·  imbalanced-learn  ·  SDV (CTGAN / TVAE)  ·  matplotlib / seaborn</a:t>
            </a:r>
            <a:endParaRPr lang="en-US" sz="13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0EFDD1-D9BB-4A0A-B76C-30190CCACF09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564E964-F527-4E29-9476-4E6BE0B4274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EFE825E-4F2D-4D15-9EA5-992C0A5BE9B5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BCC06EF-A3FF-4D98-8BE0-3A6DDD53C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E72E1A6-D8D7-4A32-994C-3B756B97A658}"/>
              </a:ext>
            </a:extLst>
          </p:cNvPr>
          <p:cNvSpPr/>
          <p:nvPr/>
        </p:nvSpPr>
        <p:spPr>
          <a:xfrm>
            <a:off x="127221" y="6325246"/>
            <a:ext cx="373413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03199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224465"/>
              </p:ext>
            </p:extLst>
          </p:nvPr>
        </p:nvGraphicFramePr>
        <p:xfrm>
          <a:off x="533400" y="1753084"/>
          <a:ext cx="6675120" cy="3566157"/>
        </p:xfrm>
        <a:graphic>
          <a:graphicData uri="http://schemas.openxmlformats.org/drawingml/2006/table">
            <a:tbl>
              <a:tblPr/>
              <a:tblGrid>
                <a:gridCol w="1741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UCI ML Repository — AI4I 2020 Predictive Maintenance Dataset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records × 14 columns, no missing values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failure (binary) — 339 failures / 9,661 non-failures (3.39%)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Sensors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Temp, Process Temp, Rotational Speed, Torque, Tool Wear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Variant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grade L / M / H (proxy for build quality, ~50% / 30% / 20%)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TWF, HDF, PWF, OSF, RNF — 5 independent physical mechanisms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Image 0" descr="chart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691640"/>
            <a:ext cx="4160520" cy="41239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4273731-5674-464C-83F3-61D8847179AB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6FD26E-6ED5-4C5B-97DF-FE577CC0EC7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C299CB7-933E-47FF-BB49-05BBA7B96F82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4813D2-0F59-421D-9AF2-BAB0CE88B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CC694E8-34C1-4B37-B6CF-6E7A1473E21F}"/>
              </a:ext>
            </a:extLst>
          </p:cNvPr>
          <p:cNvSpPr/>
          <p:nvPr/>
        </p:nvSpPr>
        <p:spPr>
          <a:xfrm>
            <a:off x="127221" y="6325246"/>
            <a:ext cx="373413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619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2480" y="2235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pic>
        <p:nvPicPr>
          <p:cNvPr id="5" name="Image 0" descr="chart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074920" cy="4297680"/>
          </a:xfrm>
          <a:prstGeom prst="rect">
            <a:avLst/>
          </a:prstGeom>
        </p:spPr>
      </p:pic>
      <p:pic>
        <p:nvPicPr>
          <p:cNvPr id="6" name="Image 1" descr="chart_quality_fail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645920"/>
            <a:ext cx="5669280" cy="3886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89320" y="55321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Torque and Tool Wear show the strongest correlation with failure — directly reflecting their role in the OSF and TWF rule definitions. Low-quality (L) parts fail more often than High-quality (H) parts.</a:t>
            </a: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380EAA-07FF-4563-AD48-201559492C53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3734A1-F9CD-4629-951D-7481D3E89A8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68994EC-1A4E-44B2-8C98-35A9D973274F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1C68DA-051F-44B2-962A-D81C23016A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88D3BDE-7169-418E-B108-34631E2B27D1}"/>
              </a:ext>
            </a:extLst>
          </p:cNvPr>
          <p:cNvSpPr/>
          <p:nvPr/>
        </p:nvSpPr>
        <p:spPr>
          <a:xfrm>
            <a:off x="167640" y="6325246"/>
            <a:ext cx="373413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0201" y="194056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Mode Analysis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pic>
        <p:nvPicPr>
          <p:cNvPr id="5" name="Image 0" descr="chart_failure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5577840" cy="368503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257800" cy="35661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wear 200–240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ΔTemp &lt; 8.6K &amp; speed &lt; 1,380 rpm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PWF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&lt; 3,500W or &gt; 9,000W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Wear × Torque exceeds L/M/H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 random chance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0" y="5394960"/>
            <a:ext cx="5257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frequent: TWF (Tool Wear Failure), 120 occurrences. Some records trigger more than one mode simultaneously — high wear combined with high torque can jointly cause TWF and OSF.</a:t>
            </a:r>
            <a:endParaRPr lang="en-US" sz="11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5438EE-6F89-4272-8175-3BBA2D0CE35C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9358D8-3C70-457C-8518-79982BD1E8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161B20-B060-4F0D-8819-5F3D349B5B04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4DF6BB-5BCC-4C44-B6FC-AACEF766C2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EA2F1B1-5C24-4140-AFD0-7ACD7A275A33}"/>
              </a:ext>
            </a:extLst>
          </p:cNvPr>
          <p:cNvSpPr/>
          <p:nvPr/>
        </p:nvSpPr>
        <p:spPr>
          <a:xfrm>
            <a:off x="167640" y="6313932"/>
            <a:ext cx="373413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9748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&amp; Feature Engineering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3246120"/>
          </a:xfrm>
          <a:prstGeom prst="rect">
            <a:avLst/>
          </a:prstGeom>
          <a:solidFill>
            <a:srgbClr val="FAFAF8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520440" cy="502920"/>
          </a:xfrm>
          <a:prstGeom prst="rect">
            <a:avLst/>
          </a:prstGeom>
          <a:solidFill>
            <a:srgbClr val="3B3A3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063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UID identifier column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zero missing values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20440" cy="3246120"/>
          </a:xfrm>
          <a:prstGeom prst="rect">
            <a:avLst/>
          </a:prstGeom>
          <a:solidFill>
            <a:srgbClr val="FAFAF8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25112" y="1691640"/>
            <a:ext cx="3520440" cy="502920"/>
          </a:xfrm>
          <a:prstGeom prst="rect">
            <a:avLst/>
          </a:prstGeom>
          <a:solidFill>
            <a:srgbClr val="3B3A36"/>
          </a:solidFill>
          <a:ln/>
        </p:spPr>
      </p:sp>
      <p:sp>
        <p:nvSpPr>
          <p:cNvPr id="11" name="Text 9"/>
          <p:cNvSpPr/>
          <p:nvPr/>
        </p:nvSpPr>
        <p:spPr>
          <a:xfrm>
            <a:off x="4325112" y="1691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&amp; Scaling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53712" y="2331720"/>
            <a:ext cx="3063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(L/M/H) → 0/1/2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all numeric features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/ 25% stratified train-test split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01584" y="1691640"/>
            <a:ext cx="3520440" cy="3246120"/>
          </a:xfrm>
          <a:prstGeom prst="rect">
            <a:avLst/>
          </a:prstGeom>
          <a:solidFill>
            <a:srgbClr val="FAFAF8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01584" y="1691640"/>
            <a:ext cx="3520440" cy="502920"/>
          </a:xfrm>
          <a:prstGeom prst="rect">
            <a:avLst/>
          </a:prstGeom>
          <a:solidFill>
            <a:srgbClr val="3B3A36"/>
          </a:solidFill>
          <a:ln/>
        </p:spPr>
      </p:sp>
      <p:sp>
        <p:nvSpPr>
          <p:cNvPr id="15" name="Text 13"/>
          <p:cNvSpPr/>
          <p:nvPr/>
        </p:nvSpPr>
        <p:spPr>
          <a:xfrm>
            <a:off x="8101584" y="169164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30184" y="2331720"/>
            <a:ext cx="306324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= Torque × Rot. Speed (rad/s)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Diff = Process Temp − Air Temp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× Torque (for OSF detection)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1206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FB702B-D3A9-496F-99DC-ECF47B634C9C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5B2026-F46D-4863-9A3A-5EDE4D9D2E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0E83256-FD65-4F9F-9D83-748043A30E68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F8721B0-6699-4D6A-BD11-4283AAA3B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E5A8E87-C6DE-4C1B-8D29-B9043D3DB412}"/>
              </a:ext>
            </a:extLst>
          </p:cNvPr>
          <p:cNvSpPr/>
          <p:nvPr/>
        </p:nvSpPr>
        <p:spPr>
          <a:xfrm>
            <a:off x="111981" y="6327326"/>
            <a:ext cx="373413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4299" y="2260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Handling Class Imbalance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pic>
        <p:nvPicPr>
          <p:cNvPr id="5" name="Image 0" descr="chart_resampling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6492240" cy="3465576"/>
          </a:xfrm>
          <a:prstGeom prst="rect">
            <a:avLst/>
          </a:prstGeom>
        </p:spPr>
      </p:pic>
      <p:pic>
        <p:nvPicPr>
          <p:cNvPr id="6" name="Image 1" descr="chart_smote_vs_ctg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45920"/>
            <a:ext cx="4572000" cy="28163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solidFill>
            <a:srgbClr val="FAFAF8"/>
          </a:solidFill>
          <a:ln w="12700">
            <a:solidFill>
              <a:srgbClr val="D9D6C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85800" y="5394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16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Borderline-SMOTE</a:t>
            </a:r>
            <a:r>
              <a:rPr lang="en-US" sz="13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gave the best traditional F1 (0.320). </a:t>
            </a:r>
            <a:r>
              <a:rPr lang="en-US" sz="1300" b="1" dirty="0">
                <a:solidFill>
                  <a:srgbClr val="B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underperformed SMOTE</a:t>
            </a:r>
            <a:r>
              <a:rPr lang="en-US" sz="13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metric — only 254 real failure examples were too few to train a reliable generative model.</a:t>
            </a:r>
            <a:endParaRPr lang="en-US" sz="13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FA520-B2AF-4FF7-9B96-6FEE7E561D55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7749B86-1B24-471C-8ECE-4A49742225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6FD9AFF-0C46-407D-8B42-69DE2BB016A3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517F32-C878-4E98-BEFA-514A57EEC6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6F67DA-6485-4023-B5CC-01A0D5C08648}"/>
              </a:ext>
            </a:extLst>
          </p:cNvPr>
          <p:cNvSpPr/>
          <p:nvPr/>
        </p:nvSpPr>
        <p:spPr>
          <a:xfrm>
            <a:off x="83787" y="6346842"/>
            <a:ext cx="373413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12250" y="20574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Development &amp; Comparison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pic>
        <p:nvPicPr>
          <p:cNvPr id="5" name="Image 0" descr="chart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0200"/>
            <a:ext cx="6949440" cy="2798064"/>
          </a:xfrm>
          <a:prstGeom prst="rect">
            <a:avLst/>
          </a:prstGeom>
        </p:spPr>
      </p:pic>
      <p:pic>
        <p:nvPicPr>
          <p:cNvPr id="6" name="Image 1" descr="chart_confusion_matrix_r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00200"/>
            <a:ext cx="4114800" cy="356616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0"/>
          <a:ext cx="6949440" cy="17373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 (SMOTE)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(SMOTE)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(SMOTE)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(weighted)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42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(weighted)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C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C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C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1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7589520" y="52578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on every metric simultaneously — no Precision/Recall trade-off, and no synthetic data required.</a:t>
            </a:r>
            <a:endParaRPr lang="en-US" sz="14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459600-3299-48FC-A390-A3B0B9255B13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8A954B7-4914-47F0-870F-2E5F02EB67B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313B3A-A6F1-4881-B8BE-A1B3A76FE73B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72E1AF-96C5-49E7-9A20-D6958A4465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AECB834-B27B-4507-8BD2-F2D5DBEE4202}"/>
              </a:ext>
            </a:extLst>
          </p:cNvPr>
          <p:cNvSpPr/>
          <p:nvPr/>
        </p:nvSpPr>
        <p:spPr>
          <a:xfrm>
            <a:off x="83787" y="6334760"/>
            <a:ext cx="373413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0202" y="195801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Multi-Class Failure Diagnosis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pic>
        <p:nvPicPr>
          <p:cNvPr id="5" name="Image 0" descr="chart_multiclass_f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67208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645920"/>
            <a:ext cx="4206240" cy="384048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7726680" y="18745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6-Class Random Forest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(SMOTE-balanced)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26680" y="2606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1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96.5%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72668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26680" y="3749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16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99.8%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726680" y="4389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26680" y="48920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Diagnoses which of the 5 failure mechanisms is responsible — not just that a failure occurred.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0E04BF-0BB4-4ACE-B7C6-FBEF8FC2133A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BAF7F7-4939-4C52-85AA-FF96AB33FD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B83DC5F-6525-44C5-9AC6-EFB39C3C243A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55C41E5-3896-41BB-88BA-7A1B0890A4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A8B3CB6-C2CE-479A-A704-582BDD9FF9D2}"/>
              </a:ext>
            </a:extLst>
          </p:cNvPr>
          <p:cNvSpPr/>
          <p:nvPr/>
        </p:nvSpPr>
        <p:spPr>
          <a:xfrm>
            <a:off x="127221" y="6340036"/>
            <a:ext cx="492981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260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Recommendations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(class-weighted) is the strongest model — F1 = 85.7%, ROC-AUC = 0.978 and PR-AUC = 0.863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Borderline-SMOTE beat CTGAN for this dataset's small minority-class size.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diagnosis reaches 96.5% Macro-F1 — failure modes are highly distinguishable once balanced.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63640" y="1645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263640" y="205740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class-weighted Random Forest as the primary failure detector — no synthetic data pipeline needed.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multi-class output so maintenance crews get an actionable diagnosis (TWF/HDF/PWF/OSF/RNF).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42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directly to crusher and conveyor fleets — monitor Torque, Tool Wear and Temperature Difference closely.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468112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1ED929-A45E-4F01-B2B4-90D70E1570C9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9025E6-970A-4B43-9304-C30BEEC8F45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0CEB0D3-0FEF-426C-B90C-2189F3615125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204EAF-82AF-4C67-BD16-CCCA78CAA0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256C18-E09D-48EA-90A7-953B4B83FE9F}"/>
              </a:ext>
            </a:extLst>
          </p:cNvPr>
          <p:cNvSpPr/>
          <p:nvPr/>
        </p:nvSpPr>
        <p:spPr>
          <a:xfrm>
            <a:off x="167640" y="6349183"/>
            <a:ext cx="548640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>
            <a:alpha val="43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6BA262C-67AF-4E92-B557-83634D3C6E97}"/>
              </a:ext>
            </a:extLst>
          </p:cNvPr>
          <p:cNvSpPr/>
          <p:nvPr/>
        </p:nvSpPr>
        <p:spPr>
          <a:xfrm>
            <a:off x="665018" y="1122575"/>
            <a:ext cx="10828280" cy="4613207"/>
          </a:xfrm>
          <a:prstGeom prst="roundRect">
            <a:avLst/>
          </a:prstGeom>
          <a:blipFill dpi="0"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30000"/>
                      </a14:imgEffect>
                    </a14:imgLayer>
                  </a14:imgProps>
                </a:ext>
              </a:extLst>
            </a:blip>
            <a:srcRect/>
            <a:stretch>
              <a:fillRect t="10" b="-1343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32033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>
                    <a:lumMod val="50000"/>
                  </a:scheme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11564" y="1604749"/>
            <a:ext cx="9707418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AI4I 2020 Predictive Maintenance Dataset — UCI Machine Learning Repository.</a:t>
            </a:r>
            <a:endParaRPr lang="en-US" sz="2000" b="1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documentation — Logistic Regression, KNN, SVM, Decision Tree, Random Forest.</a:t>
            </a:r>
            <a:endParaRPr lang="en-US" sz="2000" b="1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 (imblearn) documentation — SMOTE, ADASYN, SMOTE-ENN, SMOTE-Tomek, Borderline-SMOTE.</a:t>
            </a:r>
            <a:endParaRPr lang="en-US" sz="2000" b="1" dirty="0">
              <a:solidFill>
                <a:schemeClr val="bg2">
                  <a:lumMod val="10000"/>
                </a:schemeClr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SDV / CTGAN — Synthetic Data Vault library for tabular generative modeling.</a:t>
            </a:r>
            <a:endParaRPr lang="en-US" sz="2000" b="1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3F2D12-753E-4744-89E4-23D10BA9373B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E728A-A440-429B-885E-8946B63754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17DA960-F038-42AF-9C37-FD440B36BE8E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B270EF-1578-460A-859A-ACFC36445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F67BF2-AF45-43D1-ABDF-CDB97AB2D28B}"/>
              </a:ext>
            </a:extLst>
          </p:cNvPr>
          <p:cNvSpPr/>
          <p:nvPr/>
        </p:nvSpPr>
        <p:spPr>
          <a:xfrm>
            <a:off x="199445" y="6325246"/>
            <a:ext cx="477078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13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0C0C48A8-C85D-427A-87E6-D2EA74CCD1D8}"/>
              </a:ext>
            </a:extLst>
          </p:cNvPr>
          <p:cNvSpPr txBox="1"/>
          <p:nvPr/>
        </p:nvSpPr>
        <p:spPr>
          <a:xfrm>
            <a:off x="1359703" y="2251774"/>
            <a:ext cx="903120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THANK YOU</a:t>
            </a:r>
          </a:p>
        </p:txBody>
      </p:sp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32033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3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3F2D12-753E-4744-89E4-23D10BA9373B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E728A-A440-429B-885E-8946B637541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338560" y="136513"/>
            <a:ext cx="698703" cy="66220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17DA960-F038-42AF-9C37-FD440B36BE8E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B270EF-1578-460A-859A-ACFC36445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CF4EB3C-A45B-475C-B0F2-26BD70FAC0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345" t="36982" r="15349" b="42726"/>
          <a:stretch>
            <a:fillRect/>
          </a:stretch>
        </p:blipFill>
        <p:spPr>
          <a:xfrm>
            <a:off x="1461303" y="2786410"/>
            <a:ext cx="8586453" cy="1146721"/>
          </a:xfrm>
          <a:custGeom>
            <a:avLst/>
            <a:gdLst/>
            <a:ahLst/>
            <a:cxnLst/>
            <a:rect l="l" t="t" r="r" b="b"/>
            <a:pathLst>
              <a:path w="8586453" h="1146721">
                <a:moveTo>
                  <a:pt x="2479998" y="231056"/>
                </a:moveTo>
                <a:lnTo>
                  <a:pt x="2323394" y="701725"/>
                </a:lnTo>
                <a:lnTo>
                  <a:pt x="2637458" y="701725"/>
                </a:lnTo>
                <a:lnTo>
                  <a:pt x="2480854" y="231056"/>
                </a:lnTo>
                <a:close/>
                <a:moveTo>
                  <a:pt x="6976616" y="184845"/>
                </a:moveTo>
                <a:cubicBezTo>
                  <a:pt x="6921277" y="184845"/>
                  <a:pt x="6875066" y="195256"/>
                  <a:pt x="6837983" y="216080"/>
                </a:cubicBezTo>
                <a:cubicBezTo>
                  <a:pt x="6800900" y="236903"/>
                  <a:pt x="6770948" y="264716"/>
                  <a:pt x="6748128" y="299517"/>
                </a:cubicBezTo>
                <a:cubicBezTo>
                  <a:pt x="6725308" y="334318"/>
                  <a:pt x="6709191" y="374966"/>
                  <a:pt x="6699777" y="421463"/>
                </a:cubicBezTo>
                <a:cubicBezTo>
                  <a:pt x="6690364" y="467959"/>
                  <a:pt x="6685657" y="517165"/>
                  <a:pt x="6685657" y="569082"/>
                </a:cubicBezTo>
                <a:cubicBezTo>
                  <a:pt x="6685657" y="629555"/>
                  <a:pt x="6690221" y="683896"/>
                  <a:pt x="6699349" y="732104"/>
                </a:cubicBezTo>
                <a:cubicBezTo>
                  <a:pt x="6708477" y="780312"/>
                  <a:pt x="6723881" y="821531"/>
                  <a:pt x="6745561" y="855762"/>
                </a:cubicBezTo>
                <a:cubicBezTo>
                  <a:pt x="6767240" y="889992"/>
                  <a:pt x="6796336" y="916093"/>
                  <a:pt x="6832848" y="934064"/>
                </a:cubicBezTo>
                <a:cubicBezTo>
                  <a:pt x="6869361" y="952035"/>
                  <a:pt x="6915287" y="961020"/>
                  <a:pt x="6970626" y="961020"/>
                </a:cubicBezTo>
                <a:cubicBezTo>
                  <a:pt x="7025964" y="961020"/>
                  <a:pt x="7072176" y="950751"/>
                  <a:pt x="7109259" y="930213"/>
                </a:cubicBezTo>
                <a:cubicBezTo>
                  <a:pt x="7146342" y="909675"/>
                  <a:pt x="7176294" y="881720"/>
                  <a:pt x="7199114" y="846348"/>
                </a:cubicBezTo>
                <a:cubicBezTo>
                  <a:pt x="7221934" y="810977"/>
                  <a:pt x="7238051" y="769758"/>
                  <a:pt x="7247464" y="722691"/>
                </a:cubicBezTo>
                <a:cubicBezTo>
                  <a:pt x="7256878" y="675624"/>
                  <a:pt x="7261584" y="625562"/>
                  <a:pt x="7261584" y="572505"/>
                </a:cubicBezTo>
                <a:cubicBezTo>
                  <a:pt x="7261584" y="514313"/>
                  <a:pt x="7257020" y="461398"/>
                  <a:pt x="7247892" y="413761"/>
                </a:cubicBezTo>
                <a:cubicBezTo>
                  <a:pt x="7238764" y="366123"/>
                  <a:pt x="7223218" y="325332"/>
                  <a:pt x="7201254" y="291387"/>
                </a:cubicBezTo>
                <a:cubicBezTo>
                  <a:pt x="7179289" y="257442"/>
                  <a:pt x="7150050" y="231198"/>
                  <a:pt x="7113538" y="212657"/>
                </a:cubicBezTo>
                <a:cubicBezTo>
                  <a:pt x="7077026" y="194115"/>
                  <a:pt x="7031384" y="184845"/>
                  <a:pt x="6976616" y="184845"/>
                </a:cubicBezTo>
                <a:close/>
                <a:moveTo>
                  <a:pt x="33375" y="19682"/>
                </a:moveTo>
                <a:lnTo>
                  <a:pt x="813830" y="19682"/>
                </a:lnTo>
                <a:cubicBezTo>
                  <a:pt x="818965" y="19682"/>
                  <a:pt x="823671" y="21251"/>
                  <a:pt x="827950" y="24389"/>
                </a:cubicBezTo>
                <a:cubicBezTo>
                  <a:pt x="832229" y="27527"/>
                  <a:pt x="835794" y="32661"/>
                  <a:pt x="838647" y="39793"/>
                </a:cubicBezTo>
                <a:cubicBezTo>
                  <a:pt x="841500" y="46924"/>
                  <a:pt x="843639" y="56480"/>
                  <a:pt x="845065" y="68461"/>
                </a:cubicBezTo>
                <a:cubicBezTo>
                  <a:pt x="846491" y="80442"/>
                  <a:pt x="847204" y="94990"/>
                  <a:pt x="847204" y="112105"/>
                </a:cubicBezTo>
                <a:cubicBezTo>
                  <a:pt x="847204" y="128650"/>
                  <a:pt x="846491" y="142770"/>
                  <a:pt x="845065" y="154465"/>
                </a:cubicBezTo>
                <a:cubicBezTo>
                  <a:pt x="843639" y="166160"/>
                  <a:pt x="841500" y="175574"/>
                  <a:pt x="838647" y="182705"/>
                </a:cubicBezTo>
                <a:cubicBezTo>
                  <a:pt x="835794" y="189837"/>
                  <a:pt x="832229" y="195114"/>
                  <a:pt x="827950" y="198537"/>
                </a:cubicBezTo>
                <a:cubicBezTo>
                  <a:pt x="823671" y="201960"/>
                  <a:pt x="818965" y="203671"/>
                  <a:pt x="813830" y="203671"/>
                </a:cubicBezTo>
                <a:lnTo>
                  <a:pt x="536563" y="203671"/>
                </a:lnTo>
                <a:lnTo>
                  <a:pt x="536563" y="1096231"/>
                </a:lnTo>
                <a:cubicBezTo>
                  <a:pt x="536563" y="1101936"/>
                  <a:pt x="534709" y="1107070"/>
                  <a:pt x="531001" y="1111635"/>
                </a:cubicBezTo>
                <a:cubicBezTo>
                  <a:pt x="527292" y="1116199"/>
                  <a:pt x="521159" y="1119907"/>
                  <a:pt x="512602" y="1122759"/>
                </a:cubicBezTo>
                <a:cubicBezTo>
                  <a:pt x="504044" y="1125612"/>
                  <a:pt x="492491" y="1127894"/>
                  <a:pt x="477943" y="1129606"/>
                </a:cubicBezTo>
                <a:cubicBezTo>
                  <a:pt x="463395" y="1131317"/>
                  <a:pt x="445282" y="1132173"/>
                  <a:pt x="423602" y="1132173"/>
                </a:cubicBezTo>
                <a:cubicBezTo>
                  <a:pt x="401923" y="1132173"/>
                  <a:pt x="383810" y="1131317"/>
                  <a:pt x="369262" y="1129606"/>
                </a:cubicBezTo>
                <a:cubicBezTo>
                  <a:pt x="354714" y="1127894"/>
                  <a:pt x="343161" y="1125612"/>
                  <a:pt x="334603" y="1122759"/>
                </a:cubicBezTo>
                <a:cubicBezTo>
                  <a:pt x="326046" y="1119907"/>
                  <a:pt x="319913" y="1116199"/>
                  <a:pt x="316204" y="1111635"/>
                </a:cubicBezTo>
                <a:cubicBezTo>
                  <a:pt x="312496" y="1107070"/>
                  <a:pt x="310642" y="1101936"/>
                  <a:pt x="310642" y="1096231"/>
                </a:cubicBezTo>
                <a:lnTo>
                  <a:pt x="310642" y="203671"/>
                </a:lnTo>
                <a:lnTo>
                  <a:pt x="33375" y="203671"/>
                </a:lnTo>
                <a:cubicBezTo>
                  <a:pt x="27670" y="203671"/>
                  <a:pt x="22821" y="201960"/>
                  <a:pt x="18827" y="198537"/>
                </a:cubicBezTo>
                <a:cubicBezTo>
                  <a:pt x="14834" y="195114"/>
                  <a:pt x="11411" y="189837"/>
                  <a:pt x="8558" y="182705"/>
                </a:cubicBezTo>
                <a:cubicBezTo>
                  <a:pt x="5706" y="175574"/>
                  <a:pt x="3566" y="166160"/>
                  <a:pt x="2140" y="154465"/>
                </a:cubicBezTo>
                <a:cubicBezTo>
                  <a:pt x="714" y="142770"/>
                  <a:pt x="0" y="128650"/>
                  <a:pt x="0" y="112105"/>
                </a:cubicBezTo>
                <a:cubicBezTo>
                  <a:pt x="0" y="94990"/>
                  <a:pt x="714" y="80442"/>
                  <a:pt x="2140" y="68461"/>
                </a:cubicBezTo>
                <a:cubicBezTo>
                  <a:pt x="3566" y="56480"/>
                  <a:pt x="5706" y="46924"/>
                  <a:pt x="8558" y="39793"/>
                </a:cubicBezTo>
                <a:cubicBezTo>
                  <a:pt x="11411" y="32661"/>
                  <a:pt x="14834" y="27527"/>
                  <a:pt x="18827" y="24389"/>
                </a:cubicBezTo>
                <a:cubicBezTo>
                  <a:pt x="22821" y="21251"/>
                  <a:pt x="27670" y="19682"/>
                  <a:pt x="33375" y="19682"/>
                </a:cubicBezTo>
                <a:close/>
                <a:moveTo>
                  <a:pt x="3963554" y="16259"/>
                </a:moveTo>
                <a:cubicBezTo>
                  <a:pt x="3982951" y="16259"/>
                  <a:pt x="3999211" y="16973"/>
                  <a:pt x="4012332" y="18399"/>
                </a:cubicBezTo>
                <a:cubicBezTo>
                  <a:pt x="4025454" y="19825"/>
                  <a:pt x="4035580" y="22250"/>
                  <a:pt x="4042712" y="25673"/>
                </a:cubicBezTo>
                <a:cubicBezTo>
                  <a:pt x="4049843" y="29096"/>
                  <a:pt x="4054835" y="33089"/>
                  <a:pt x="4057688" y="37653"/>
                </a:cubicBezTo>
                <a:cubicBezTo>
                  <a:pt x="4060540" y="42218"/>
                  <a:pt x="4061967" y="47352"/>
                  <a:pt x="4061967" y="53057"/>
                </a:cubicBezTo>
                <a:lnTo>
                  <a:pt x="4061967" y="1048308"/>
                </a:lnTo>
                <a:cubicBezTo>
                  <a:pt x="4061967" y="1061430"/>
                  <a:pt x="4059684" y="1073125"/>
                  <a:pt x="4055121" y="1083394"/>
                </a:cubicBezTo>
                <a:cubicBezTo>
                  <a:pt x="4050556" y="1093664"/>
                  <a:pt x="4044424" y="1102221"/>
                  <a:pt x="4036722" y="1109067"/>
                </a:cubicBezTo>
                <a:cubicBezTo>
                  <a:pt x="4029020" y="1115913"/>
                  <a:pt x="4019892" y="1120905"/>
                  <a:pt x="4009337" y="1124043"/>
                </a:cubicBezTo>
                <a:cubicBezTo>
                  <a:pt x="3998783" y="1127181"/>
                  <a:pt x="3988086" y="1128750"/>
                  <a:pt x="3977246" y="1128750"/>
                </a:cubicBezTo>
                <a:lnTo>
                  <a:pt x="3881401" y="1128750"/>
                </a:lnTo>
                <a:cubicBezTo>
                  <a:pt x="3861433" y="1128750"/>
                  <a:pt x="3844176" y="1126753"/>
                  <a:pt x="3829628" y="1122759"/>
                </a:cubicBezTo>
                <a:cubicBezTo>
                  <a:pt x="3815080" y="1118766"/>
                  <a:pt x="3801672" y="1111492"/>
                  <a:pt x="3789407" y="1100937"/>
                </a:cubicBezTo>
                <a:cubicBezTo>
                  <a:pt x="3777140" y="1090383"/>
                  <a:pt x="3765302" y="1076120"/>
                  <a:pt x="3753893" y="1058149"/>
                </a:cubicBezTo>
                <a:cubicBezTo>
                  <a:pt x="3742482" y="1040178"/>
                  <a:pt x="3729646" y="1016930"/>
                  <a:pt x="3715383" y="988405"/>
                </a:cubicBezTo>
                <a:lnTo>
                  <a:pt x="3439828" y="470669"/>
                </a:lnTo>
                <a:cubicBezTo>
                  <a:pt x="3423854" y="439862"/>
                  <a:pt x="3407594" y="406629"/>
                  <a:pt x="3391049" y="370973"/>
                </a:cubicBezTo>
                <a:cubicBezTo>
                  <a:pt x="3374505" y="335316"/>
                  <a:pt x="3359671" y="300658"/>
                  <a:pt x="3346550" y="266998"/>
                </a:cubicBezTo>
                <a:lnTo>
                  <a:pt x="3344838" y="266998"/>
                </a:lnTo>
                <a:cubicBezTo>
                  <a:pt x="3347120" y="308074"/>
                  <a:pt x="3348832" y="349008"/>
                  <a:pt x="3349973" y="389799"/>
                </a:cubicBezTo>
                <a:cubicBezTo>
                  <a:pt x="3351114" y="430591"/>
                  <a:pt x="3351684" y="472666"/>
                  <a:pt x="3351684" y="516024"/>
                </a:cubicBezTo>
                <a:lnTo>
                  <a:pt x="3351684" y="1095375"/>
                </a:lnTo>
                <a:cubicBezTo>
                  <a:pt x="3351684" y="1101080"/>
                  <a:pt x="3350115" y="1106215"/>
                  <a:pt x="3346977" y="1110779"/>
                </a:cubicBezTo>
                <a:cubicBezTo>
                  <a:pt x="3343840" y="1115343"/>
                  <a:pt x="3338420" y="1119194"/>
                  <a:pt x="3330718" y="1122332"/>
                </a:cubicBezTo>
                <a:cubicBezTo>
                  <a:pt x="3323016" y="1125469"/>
                  <a:pt x="3312605" y="1127894"/>
                  <a:pt x="3299483" y="1129606"/>
                </a:cubicBezTo>
                <a:cubicBezTo>
                  <a:pt x="3286361" y="1131317"/>
                  <a:pt x="3269531" y="1132173"/>
                  <a:pt x="3248993" y="1132173"/>
                </a:cubicBezTo>
                <a:cubicBezTo>
                  <a:pt x="3229025" y="1132173"/>
                  <a:pt x="3212480" y="1131317"/>
                  <a:pt x="3199359" y="1129606"/>
                </a:cubicBezTo>
                <a:cubicBezTo>
                  <a:pt x="3186237" y="1127894"/>
                  <a:pt x="3175968" y="1125469"/>
                  <a:pt x="3168551" y="1122332"/>
                </a:cubicBezTo>
                <a:cubicBezTo>
                  <a:pt x="3161135" y="1119194"/>
                  <a:pt x="3156000" y="1115343"/>
                  <a:pt x="3153147" y="1110779"/>
                </a:cubicBezTo>
                <a:cubicBezTo>
                  <a:pt x="3150295" y="1106215"/>
                  <a:pt x="3148869" y="1101080"/>
                  <a:pt x="3148869" y="1095375"/>
                </a:cubicBezTo>
                <a:lnTo>
                  <a:pt x="3148869" y="100124"/>
                </a:lnTo>
                <a:cubicBezTo>
                  <a:pt x="3148869" y="73310"/>
                  <a:pt x="3156713" y="53200"/>
                  <a:pt x="3172402" y="39793"/>
                </a:cubicBezTo>
                <a:cubicBezTo>
                  <a:pt x="3188091" y="26386"/>
                  <a:pt x="3207346" y="19682"/>
                  <a:pt x="3230166" y="19682"/>
                </a:cubicBezTo>
                <a:lnTo>
                  <a:pt x="3350828" y="19682"/>
                </a:lnTo>
                <a:cubicBezTo>
                  <a:pt x="3372508" y="19682"/>
                  <a:pt x="3390764" y="21537"/>
                  <a:pt x="3405597" y="25245"/>
                </a:cubicBezTo>
                <a:cubicBezTo>
                  <a:pt x="3420430" y="28953"/>
                  <a:pt x="3433695" y="35086"/>
                  <a:pt x="3445390" y="43644"/>
                </a:cubicBezTo>
                <a:cubicBezTo>
                  <a:pt x="3457086" y="52201"/>
                  <a:pt x="3468068" y="64040"/>
                  <a:pt x="3478337" y="79158"/>
                </a:cubicBezTo>
                <a:cubicBezTo>
                  <a:pt x="3488606" y="94276"/>
                  <a:pt x="3499160" y="112961"/>
                  <a:pt x="3510000" y="135210"/>
                </a:cubicBezTo>
                <a:lnTo>
                  <a:pt x="3725652" y="539986"/>
                </a:lnTo>
                <a:cubicBezTo>
                  <a:pt x="3738204" y="564518"/>
                  <a:pt x="3750612" y="588622"/>
                  <a:pt x="3762878" y="612298"/>
                </a:cubicBezTo>
                <a:cubicBezTo>
                  <a:pt x="3775144" y="635974"/>
                  <a:pt x="3786982" y="659650"/>
                  <a:pt x="3798392" y="683326"/>
                </a:cubicBezTo>
                <a:cubicBezTo>
                  <a:pt x="3809802" y="707002"/>
                  <a:pt x="3820927" y="730250"/>
                  <a:pt x="3831767" y="753070"/>
                </a:cubicBezTo>
                <a:cubicBezTo>
                  <a:pt x="3842606" y="775891"/>
                  <a:pt x="3853161" y="798711"/>
                  <a:pt x="3863430" y="821531"/>
                </a:cubicBezTo>
                <a:lnTo>
                  <a:pt x="3864286" y="821531"/>
                </a:lnTo>
                <a:cubicBezTo>
                  <a:pt x="3862574" y="781596"/>
                  <a:pt x="3861291" y="739949"/>
                  <a:pt x="3860435" y="696590"/>
                </a:cubicBezTo>
                <a:cubicBezTo>
                  <a:pt x="3859579" y="653231"/>
                  <a:pt x="3859151" y="611870"/>
                  <a:pt x="3859151" y="572505"/>
                </a:cubicBezTo>
                <a:lnTo>
                  <a:pt x="3859151" y="53057"/>
                </a:lnTo>
                <a:cubicBezTo>
                  <a:pt x="3859151" y="47352"/>
                  <a:pt x="3860863" y="42218"/>
                  <a:pt x="3864286" y="37653"/>
                </a:cubicBezTo>
                <a:cubicBezTo>
                  <a:pt x="3867709" y="33089"/>
                  <a:pt x="3873414" y="29096"/>
                  <a:pt x="3881401" y="25673"/>
                </a:cubicBezTo>
                <a:cubicBezTo>
                  <a:pt x="3889388" y="22250"/>
                  <a:pt x="3899943" y="19825"/>
                  <a:pt x="3913064" y="18399"/>
                </a:cubicBezTo>
                <a:cubicBezTo>
                  <a:pt x="3926186" y="16973"/>
                  <a:pt x="3943016" y="16259"/>
                  <a:pt x="3963554" y="16259"/>
                </a:cubicBezTo>
                <a:close/>
                <a:moveTo>
                  <a:pt x="7794873" y="14548"/>
                </a:moveTo>
                <a:cubicBezTo>
                  <a:pt x="7816552" y="14548"/>
                  <a:pt x="7834524" y="15404"/>
                  <a:pt x="7848786" y="17115"/>
                </a:cubicBezTo>
                <a:cubicBezTo>
                  <a:pt x="7863048" y="18827"/>
                  <a:pt x="7874459" y="21109"/>
                  <a:pt x="7883016" y="23961"/>
                </a:cubicBezTo>
                <a:cubicBezTo>
                  <a:pt x="7891574" y="26814"/>
                  <a:pt x="7897707" y="30522"/>
                  <a:pt x="7901416" y="35086"/>
                </a:cubicBezTo>
                <a:cubicBezTo>
                  <a:pt x="7905124" y="39650"/>
                  <a:pt x="7906978" y="44785"/>
                  <a:pt x="7906978" y="50490"/>
                </a:cubicBezTo>
                <a:lnTo>
                  <a:pt x="7906978" y="704292"/>
                </a:lnTo>
                <a:cubicBezTo>
                  <a:pt x="7906978" y="748221"/>
                  <a:pt x="7912398" y="786302"/>
                  <a:pt x="7923237" y="818536"/>
                </a:cubicBezTo>
                <a:cubicBezTo>
                  <a:pt x="7934076" y="850770"/>
                  <a:pt x="7949624" y="877441"/>
                  <a:pt x="7969876" y="898550"/>
                </a:cubicBezTo>
                <a:cubicBezTo>
                  <a:pt x="7990129" y="919659"/>
                  <a:pt x="8014376" y="935490"/>
                  <a:pt x="8042616" y="946045"/>
                </a:cubicBezTo>
                <a:cubicBezTo>
                  <a:pt x="8070856" y="956599"/>
                  <a:pt x="8102377" y="961876"/>
                  <a:pt x="8137178" y="961876"/>
                </a:cubicBezTo>
                <a:cubicBezTo>
                  <a:pt x="8172550" y="961876"/>
                  <a:pt x="8204212" y="956456"/>
                  <a:pt x="8232167" y="945617"/>
                </a:cubicBezTo>
                <a:cubicBezTo>
                  <a:pt x="8260122" y="934777"/>
                  <a:pt x="8283798" y="918945"/>
                  <a:pt x="8303195" y="898122"/>
                </a:cubicBezTo>
                <a:cubicBezTo>
                  <a:pt x="8322592" y="877298"/>
                  <a:pt x="8337568" y="851626"/>
                  <a:pt x="8348123" y="821103"/>
                </a:cubicBezTo>
                <a:cubicBezTo>
                  <a:pt x="8358677" y="790581"/>
                  <a:pt x="8363954" y="755923"/>
                  <a:pt x="8363954" y="717128"/>
                </a:cubicBezTo>
                <a:lnTo>
                  <a:pt x="8363954" y="50490"/>
                </a:lnTo>
                <a:cubicBezTo>
                  <a:pt x="8363954" y="44785"/>
                  <a:pt x="8365666" y="39650"/>
                  <a:pt x="8369089" y="35086"/>
                </a:cubicBezTo>
                <a:cubicBezTo>
                  <a:pt x="8372512" y="30522"/>
                  <a:pt x="8378502" y="26814"/>
                  <a:pt x="8387060" y="23961"/>
                </a:cubicBezTo>
                <a:cubicBezTo>
                  <a:pt x="8395618" y="21109"/>
                  <a:pt x="8407170" y="18827"/>
                  <a:pt x="8421718" y="17115"/>
                </a:cubicBezTo>
                <a:cubicBezTo>
                  <a:pt x="8436266" y="15404"/>
                  <a:pt x="8454380" y="14548"/>
                  <a:pt x="8476059" y="14548"/>
                </a:cubicBezTo>
                <a:cubicBezTo>
                  <a:pt x="8497739" y="14548"/>
                  <a:pt x="8515567" y="15404"/>
                  <a:pt x="8529544" y="17115"/>
                </a:cubicBezTo>
                <a:cubicBezTo>
                  <a:pt x="8543522" y="18827"/>
                  <a:pt x="8554789" y="21109"/>
                  <a:pt x="8563347" y="23961"/>
                </a:cubicBezTo>
                <a:cubicBezTo>
                  <a:pt x="8571905" y="26814"/>
                  <a:pt x="8577895" y="30522"/>
                  <a:pt x="8581318" y="35086"/>
                </a:cubicBezTo>
                <a:cubicBezTo>
                  <a:pt x="8584741" y="39650"/>
                  <a:pt x="8586453" y="44785"/>
                  <a:pt x="8586453" y="50490"/>
                </a:cubicBezTo>
                <a:lnTo>
                  <a:pt x="8586453" y="714561"/>
                </a:lnTo>
                <a:cubicBezTo>
                  <a:pt x="8586453" y="782452"/>
                  <a:pt x="8576469" y="843211"/>
                  <a:pt x="8556501" y="896838"/>
                </a:cubicBezTo>
                <a:cubicBezTo>
                  <a:pt x="8536533" y="950466"/>
                  <a:pt x="8507152" y="995821"/>
                  <a:pt x="8468357" y="1032904"/>
                </a:cubicBezTo>
                <a:cubicBezTo>
                  <a:pt x="8429563" y="1069987"/>
                  <a:pt x="8381640" y="1098227"/>
                  <a:pt x="8324589" y="1117625"/>
                </a:cubicBezTo>
                <a:cubicBezTo>
                  <a:pt x="8267539" y="1137022"/>
                  <a:pt x="8201930" y="1146721"/>
                  <a:pt x="8127764" y="1146721"/>
                </a:cubicBezTo>
                <a:cubicBezTo>
                  <a:pt x="8058162" y="1146721"/>
                  <a:pt x="7995692" y="1138020"/>
                  <a:pt x="7940352" y="1120620"/>
                </a:cubicBezTo>
                <a:cubicBezTo>
                  <a:pt x="7885014" y="1103219"/>
                  <a:pt x="7838232" y="1076833"/>
                  <a:pt x="7800008" y="1041462"/>
                </a:cubicBezTo>
                <a:cubicBezTo>
                  <a:pt x="7761784" y="1006091"/>
                  <a:pt x="7732545" y="962019"/>
                  <a:pt x="7712292" y="909247"/>
                </a:cubicBezTo>
                <a:cubicBezTo>
                  <a:pt x="7692039" y="856475"/>
                  <a:pt x="7681912" y="794717"/>
                  <a:pt x="7681912" y="723974"/>
                </a:cubicBezTo>
                <a:lnTo>
                  <a:pt x="7681912" y="50490"/>
                </a:lnTo>
                <a:cubicBezTo>
                  <a:pt x="7681912" y="44785"/>
                  <a:pt x="7683624" y="39650"/>
                  <a:pt x="7687047" y="35086"/>
                </a:cubicBezTo>
                <a:cubicBezTo>
                  <a:pt x="7690470" y="30522"/>
                  <a:pt x="7696603" y="26814"/>
                  <a:pt x="7705446" y="23961"/>
                </a:cubicBezTo>
                <a:cubicBezTo>
                  <a:pt x="7714289" y="21109"/>
                  <a:pt x="7725842" y="18827"/>
                  <a:pt x="7740104" y="17115"/>
                </a:cubicBezTo>
                <a:cubicBezTo>
                  <a:pt x="7754366" y="15404"/>
                  <a:pt x="7772623" y="14548"/>
                  <a:pt x="7794873" y="14548"/>
                </a:cubicBezTo>
                <a:close/>
                <a:moveTo>
                  <a:pt x="5666780" y="14548"/>
                </a:moveTo>
                <a:cubicBezTo>
                  <a:pt x="5693023" y="14548"/>
                  <a:pt x="5713989" y="15118"/>
                  <a:pt x="5729678" y="16259"/>
                </a:cubicBezTo>
                <a:cubicBezTo>
                  <a:pt x="5745367" y="17401"/>
                  <a:pt x="5757776" y="19540"/>
                  <a:pt x="5766904" y="22678"/>
                </a:cubicBezTo>
                <a:cubicBezTo>
                  <a:pt x="5776032" y="25815"/>
                  <a:pt x="5782736" y="29952"/>
                  <a:pt x="5787014" y="35086"/>
                </a:cubicBezTo>
                <a:cubicBezTo>
                  <a:pt x="5791293" y="40221"/>
                  <a:pt x="5795430" y="46782"/>
                  <a:pt x="5799423" y="54769"/>
                </a:cubicBezTo>
                <a:lnTo>
                  <a:pt x="5922653" y="326901"/>
                </a:lnTo>
                <a:cubicBezTo>
                  <a:pt x="5934633" y="353144"/>
                  <a:pt x="5946471" y="380814"/>
                  <a:pt x="5958167" y="409910"/>
                </a:cubicBezTo>
                <a:cubicBezTo>
                  <a:pt x="5969862" y="439006"/>
                  <a:pt x="5981700" y="469528"/>
                  <a:pt x="5993681" y="501476"/>
                </a:cubicBezTo>
                <a:lnTo>
                  <a:pt x="5995392" y="501476"/>
                </a:lnTo>
                <a:cubicBezTo>
                  <a:pt x="6006232" y="470669"/>
                  <a:pt x="6017357" y="440717"/>
                  <a:pt x="6028767" y="411621"/>
                </a:cubicBezTo>
                <a:cubicBezTo>
                  <a:pt x="6040177" y="382525"/>
                  <a:pt x="6051302" y="354856"/>
                  <a:pt x="6062142" y="328613"/>
                </a:cubicBezTo>
                <a:lnTo>
                  <a:pt x="6183660" y="58192"/>
                </a:lnTo>
                <a:cubicBezTo>
                  <a:pt x="6186513" y="49064"/>
                  <a:pt x="6190078" y="41790"/>
                  <a:pt x="6194357" y="36370"/>
                </a:cubicBezTo>
                <a:cubicBezTo>
                  <a:pt x="6198636" y="30950"/>
                  <a:pt x="6205054" y="26529"/>
                  <a:pt x="6213612" y="23106"/>
                </a:cubicBezTo>
                <a:cubicBezTo>
                  <a:pt x="6222169" y="19682"/>
                  <a:pt x="6233864" y="17401"/>
                  <a:pt x="6248698" y="16259"/>
                </a:cubicBezTo>
                <a:cubicBezTo>
                  <a:pt x="6263531" y="15118"/>
                  <a:pt x="6283214" y="14548"/>
                  <a:pt x="6307745" y="14548"/>
                </a:cubicBezTo>
                <a:cubicBezTo>
                  <a:pt x="6340264" y="14548"/>
                  <a:pt x="6365509" y="15261"/>
                  <a:pt x="6383480" y="16687"/>
                </a:cubicBezTo>
                <a:cubicBezTo>
                  <a:pt x="6401451" y="18114"/>
                  <a:pt x="6413717" y="21822"/>
                  <a:pt x="6420278" y="27812"/>
                </a:cubicBezTo>
                <a:cubicBezTo>
                  <a:pt x="6426839" y="33803"/>
                  <a:pt x="6428408" y="42788"/>
                  <a:pt x="6424985" y="54769"/>
                </a:cubicBezTo>
                <a:cubicBezTo>
                  <a:pt x="6421562" y="66749"/>
                  <a:pt x="6414716" y="83009"/>
                  <a:pt x="6404446" y="103547"/>
                </a:cubicBezTo>
                <a:lnTo>
                  <a:pt x="6101507" y="706859"/>
                </a:lnTo>
                <a:lnTo>
                  <a:pt x="6101507" y="1096231"/>
                </a:lnTo>
                <a:cubicBezTo>
                  <a:pt x="6101507" y="1101936"/>
                  <a:pt x="6099653" y="1107070"/>
                  <a:pt x="6095944" y="1111635"/>
                </a:cubicBezTo>
                <a:cubicBezTo>
                  <a:pt x="6092236" y="1116199"/>
                  <a:pt x="6086103" y="1119907"/>
                  <a:pt x="6077545" y="1122759"/>
                </a:cubicBezTo>
                <a:cubicBezTo>
                  <a:pt x="6068988" y="1125612"/>
                  <a:pt x="6057435" y="1127894"/>
                  <a:pt x="6042887" y="1129606"/>
                </a:cubicBezTo>
                <a:cubicBezTo>
                  <a:pt x="6028339" y="1131317"/>
                  <a:pt x="6010226" y="1132173"/>
                  <a:pt x="5988546" y="1132173"/>
                </a:cubicBezTo>
                <a:cubicBezTo>
                  <a:pt x="5966296" y="1132173"/>
                  <a:pt x="5948040" y="1131317"/>
                  <a:pt x="5933778" y="1129606"/>
                </a:cubicBezTo>
                <a:cubicBezTo>
                  <a:pt x="5919515" y="1127894"/>
                  <a:pt x="5907962" y="1125612"/>
                  <a:pt x="5899119" y="1122759"/>
                </a:cubicBezTo>
                <a:cubicBezTo>
                  <a:pt x="5890276" y="1119907"/>
                  <a:pt x="5884143" y="1116199"/>
                  <a:pt x="5880720" y="1111635"/>
                </a:cubicBezTo>
                <a:cubicBezTo>
                  <a:pt x="5877297" y="1107070"/>
                  <a:pt x="5875586" y="1101936"/>
                  <a:pt x="5875586" y="1096231"/>
                </a:cubicBezTo>
                <a:lnTo>
                  <a:pt x="5875586" y="706859"/>
                </a:lnTo>
                <a:lnTo>
                  <a:pt x="5572646" y="103547"/>
                </a:lnTo>
                <a:cubicBezTo>
                  <a:pt x="5561807" y="82438"/>
                  <a:pt x="5554817" y="66036"/>
                  <a:pt x="5551680" y="54341"/>
                </a:cubicBezTo>
                <a:cubicBezTo>
                  <a:pt x="5548542" y="42645"/>
                  <a:pt x="5550254" y="33803"/>
                  <a:pt x="5556814" y="27812"/>
                </a:cubicBezTo>
                <a:cubicBezTo>
                  <a:pt x="5563375" y="21822"/>
                  <a:pt x="5575499" y="18114"/>
                  <a:pt x="5593184" y="16687"/>
                </a:cubicBezTo>
                <a:cubicBezTo>
                  <a:pt x="5610870" y="15261"/>
                  <a:pt x="5635402" y="14548"/>
                  <a:pt x="5666780" y="14548"/>
                </a:cubicBezTo>
                <a:close/>
                <a:moveTo>
                  <a:pt x="4414354" y="14548"/>
                </a:moveTo>
                <a:cubicBezTo>
                  <a:pt x="4436604" y="14548"/>
                  <a:pt x="4454860" y="15404"/>
                  <a:pt x="4469123" y="17115"/>
                </a:cubicBezTo>
                <a:cubicBezTo>
                  <a:pt x="4483386" y="18827"/>
                  <a:pt x="4494796" y="21109"/>
                  <a:pt x="4503353" y="23961"/>
                </a:cubicBezTo>
                <a:cubicBezTo>
                  <a:pt x="4511911" y="26814"/>
                  <a:pt x="4517902" y="30522"/>
                  <a:pt x="4521324" y="35086"/>
                </a:cubicBezTo>
                <a:cubicBezTo>
                  <a:pt x="4524747" y="39650"/>
                  <a:pt x="4526459" y="45070"/>
                  <a:pt x="4526459" y="51346"/>
                </a:cubicBezTo>
                <a:lnTo>
                  <a:pt x="4526459" y="522870"/>
                </a:lnTo>
                <a:lnTo>
                  <a:pt x="4850792" y="52201"/>
                </a:lnTo>
                <a:cubicBezTo>
                  <a:pt x="4854786" y="44785"/>
                  <a:pt x="4859636" y="38652"/>
                  <a:pt x="4865340" y="33803"/>
                </a:cubicBezTo>
                <a:cubicBezTo>
                  <a:pt x="4871046" y="28953"/>
                  <a:pt x="4878462" y="25102"/>
                  <a:pt x="4887590" y="22250"/>
                </a:cubicBezTo>
                <a:cubicBezTo>
                  <a:pt x="4896719" y="19397"/>
                  <a:pt x="4908414" y="17401"/>
                  <a:pt x="4922676" y="16259"/>
                </a:cubicBezTo>
                <a:cubicBezTo>
                  <a:pt x="4936940" y="15118"/>
                  <a:pt x="4955195" y="14548"/>
                  <a:pt x="4977445" y="14548"/>
                </a:cubicBezTo>
                <a:cubicBezTo>
                  <a:pt x="5000266" y="14548"/>
                  <a:pt x="5019093" y="15404"/>
                  <a:pt x="5033925" y="17115"/>
                </a:cubicBezTo>
                <a:cubicBezTo>
                  <a:pt x="5048759" y="18827"/>
                  <a:pt x="5060597" y="21251"/>
                  <a:pt x="5069440" y="24389"/>
                </a:cubicBezTo>
                <a:cubicBezTo>
                  <a:pt x="5078283" y="27527"/>
                  <a:pt x="5084415" y="31378"/>
                  <a:pt x="5087838" y="35942"/>
                </a:cubicBezTo>
                <a:cubicBezTo>
                  <a:pt x="5091261" y="40506"/>
                  <a:pt x="5092973" y="45641"/>
                  <a:pt x="5092973" y="51346"/>
                </a:cubicBezTo>
                <a:cubicBezTo>
                  <a:pt x="5092973" y="61044"/>
                  <a:pt x="5090406" y="71028"/>
                  <a:pt x="5085271" y="81297"/>
                </a:cubicBezTo>
                <a:cubicBezTo>
                  <a:pt x="5080137" y="91567"/>
                  <a:pt x="5070438" y="107826"/>
                  <a:pt x="5056175" y="130076"/>
                </a:cubicBezTo>
                <a:lnTo>
                  <a:pt x="4752380" y="528005"/>
                </a:lnTo>
                <a:lnTo>
                  <a:pt x="5083560" y="1028626"/>
                </a:lnTo>
                <a:cubicBezTo>
                  <a:pt x="5096111" y="1052016"/>
                  <a:pt x="5103670" y="1067563"/>
                  <a:pt x="5106237" y="1075265"/>
                </a:cubicBezTo>
                <a:cubicBezTo>
                  <a:pt x="5108805" y="1082966"/>
                  <a:pt x="5110088" y="1089099"/>
                  <a:pt x="5110088" y="1093664"/>
                </a:cubicBezTo>
                <a:cubicBezTo>
                  <a:pt x="5110088" y="1099939"/>
                  <a:pt x="5108520" y="1105501"/>
                  <a:pt x="5105382" y="1110351"/>
                </a:cubicBezTo>
                <a:cubicBezTo>
                  <a:pt x="5102244" y="1115200"/>
                  <a:pt x="5096254" y="1119194"/>
                  <a:pt x="5087411" y="1122332"/>
                </a:cubicBezTo>
                <a:cubicBezTo>
                  <a:pt x="5078568" y="1125469"/>
                  <a:pt x="5066444" y="1127894"/>
                  <a:pt x="5051041" y="1129606"/>
                </a:cubicBezTo>
                <a:cubicBezTo>
                  <a:pt x="5035637" y="1131317"/>
                  <a:pt x="5016240" y="1132173"/>
                  <a:pt x="4992849" y="1132173"/>
                </a:cubicBezTo>
                <a:cubicBezTo>
                  <a:pt x="4955766" y="1132173"/>
                  <a:pt x="4929095" y="1130747"/>
                  <a:pt x="4912835" y="1127894"/>
                </a:cubicBezTo>
                <a:cubicBezTo>
                  <a:pt x="4896576" y="1125041"/>
                  <a:pt x="4884880" y="1120763"/>
                  <a:pt x="4877749" y="1115058"/>
                </a:cubicBezTo>
                <a:cubicBezTo>
                  <a:pt x="4870618" y="1109353"/>
                  <a:pt x="4865056" y="1102506"/>
                  <a:pt x="4861062" y="1094519"/>
                </a:cubicBezTo>
                <a:lnTo>
                  <a:pt x="4526459" y="569082"/>
                </a:lnTo>
                <a:lnTo>
                  <a:pt x="4526459" y="1094519"/>
                </a:lnTo>
                <a:cubicBezTo>
                  <a:pt x="4526459" y="1100795"/>
                  <a:pt x="4524747" y="1106215"/>
                  <a:pt x="4521324" y="1110779"/>
                </a:cubicBezTo>
                <a:cubicBezTo>
                  <a:pt x="4517902" y="1115343"/>
                  <a:pt x="4511911" y="1119194"/>
                  <a:pt x="4503353" y="1122332"/>
                </a:cubicBezTo>
                <a:cubicBezTo>
                  <a:pt x="4494796" y="1125469"/>
                  <a:pt x="4483386" y="1127894"/>
                  <a:pt x="4469123" y="1129606"/>
                </a:cubicBezTo>
                <a:cubicBezTo>
                  <a:pt x="4454860" y="1131317"/>
                  <a:pt x="4436604" y="1132173"/>
                  <a:pt x="4414354" y="1132173"/>
                </a:cubicBezTo>
                <a:cubicBezTo>
                  <a:pt x="4392675" y="1132173"/>
                  <a:pt x="4374561" y="1131317"/>
                  <a:pt x="4360013" y="1129606"/>
                </a:cubicBezTo>
                <a:cubicBezTo>
                  <a:pt x="4345465" y="1127894"/>
                  <a:pt x="4333912" y="1125469"/>
                  <a:pt x="4325355" y="1122332"/>
                </a:cubicBezTo>
                <a:cubicBezTo>
                  <a:pt x="4316797" y="1119194"/>
                  <a:pt x="4310664" y="1115343"/>
                  <a:pt x="4306956" y="1110779"/>
                </a:cubicBezTo>
                <a:cubicBezTo>
                  <a:pt x="4303248" y="1106215"/>
                  <a:pt x="4301393" y="1100795"/>
                  <a:pt x="4301393" y="1094519"/>
                </a:cubicBezTo>
                <a:lnTo>
                  <a:pt x="4301393" y="51346"/>
                </a:lnTo>
                <a:cubicBezTo>
                  <a:pt x="4301393" y="45070"/>
                  <a:pt x="4303248" y="39650"/>
                  <a:pt x="4306956" y="35086"/>
                </a:cubicBezTo>
                <a:cubicBezTo>
                  <a:pt x="4310664" y="30522"/>
                  <a:pt x="4316797" y="26814"/>
                  <a:pt x="4325355" y="23961"/>
                </a:cubicBezTo>
                <a:cubicBezTo>
                  <a:pt x="4333912" y="21109"/>
                  <a:pt x="4345465" y="18827"/>
                  <a:pt x="4360013" y="17115"/>
                </a:cubicBezTo>
                <a:cubicBezTo>
                  <a:pt x="4374561" y="15404"/>
                  <a:pt x="4392675" y="14548"/>
                  <a:pt x="4414354" y="14548"/>
                </a:cubicBezTo>
                <a:close/>
                <a:moveTo>
                  <a:pt x="2483421" y="14548"/>
                </a:moveTo>
                <a:cubicBezTo>
                  <a:pt x="2517081" y="14548"/>
                  <a:pt x="2543895" y="14976"/>
                  <a:pt x="2563863" y="15832"/>
                </a:cubicBezTo>
                <a:cubicBezTo>
                  <a:pt x="2583830" y="16687"/>
                  <a:pt x="2599377" y="18684"/>
                  <a:pt x="2610502" y="21822"/>
                </a:cubicBezTo>
                <a:cubicBezTo>
                  <a:pt x="2621627" y="24960"/>
                  <a:pt x="2629614" y="29666"/>
                  <a:pt x="2634463" y="35942"/>
                </a:cubicBezTo>
                <a:cubicBezTo>
                  <a:pt x="2639313" y="42218"/>
                  <a:pt x="2643448" y="50775"/>
                  <a:pt x="2646872" y="61615"/>
                </a:cubicBezTo>
                <a:lnTo>
                  <a:pt x="2989176" y="1043174"/>
                </a:lnTo>
                <a:cubicBezTo>
                  <a:pt x="2996022" y="1063712"/>
                  <a:pt x="3000301" y="1079971"/>
                  <a:pt x="3002012" y="1091952"/>
                </a:cubicBezTo>
                <a:cubicBezTo>
                  <a:pt x="3003724" y="1103933"/>
                  <a:pt x="3001442" y="1112918"/>
                  <a:pt x="2995167" y="1118908"/>
                </a:cubicBezTo>
                <a:cubicBezTo>
                  <a:pt x="2988891" y="1124899"/>
                  <a:pt x="2977766" y="1128607"/>
                  <a:pt x="2961792" y="1130033"/>
                </a:cubicBezTo>
                <a:cubicBezTo>
                  <a:pt x="2945818" y="1131460"/>
                  <a:pt x="2923853" y="1132173"/>
                  <a:pt x="2895898" y="1132173"/>
                </a:cubicBezTo>
                <a:cubicBezTo>
                  <a:pt x="2866802" y="1132173"/>
                  <a:pt x="2844124" y="1131745"/>
                  <a:pt x="2827865" y="1130889"/>
                </a:cubicBezTo>
                <a:cubicBezTo>
                  <a:pt x="2811606" y="1130033"/>
                  <a:pt x="2799197" y="1128322"/>
                  <a:pt x="2790639" y="1125755"/>
                </a:cubicBezTo>
                <a:cubicBezTo>
                  <a:pt x="2782082" y="1123187"/>
                  <a:pt x="2776091" y="1119622"/>
                  <a:pt x="2772669" y="1115058"/>
                </a:cubicBezTo>
                <a:cubicBezTo>
                  <a:pt x="2769245" y="1110493"/>
                  <a:pt x="2766393" y="1104503"/>
                  <a:pt x="2764111" y="1097087"/>
                </a:cubicBezTo>
                <a:lnTo>
                  <a:pt x="2689660" y="874589"/>
                </a:lnTo>
                <a:lnTo>
                  <a:pt x="2273759" y="874589"/>
                </a:lnTo>
                <a:lnTo>
                  <a:pt x="2203587" y="1091096"/>
                </a:lnTo>
                <a:cubicBezTo>
                  <a:pt x="2201305" y="1099083"/>
                  <a:pt x="2198310" y="1105787"/>
                  <a:pt x="2194602" y="1111207"/>
                </a:cubicBezTo>
                <a:cubicBezTo>
                  <a:pt x="2190893" y="1116626"/>
                  <a:pt x="2184903" y="1120905"/>
                  <a:pt x="2176630" y="1124043"/>
                </a:cubicBezTo>
                <a:cubicBezTo>
                  <a:pt x="2168358" y="1127181"/>
                  <a:pt x="2156663" y="1129320"/>
                  <a:pt x="2141544" y="1130461"/>
                </a:cubicBezTo>
                <a:cubicBezTo>
                  <a:pt x="2126426" y="1131602"/>
                  <a:pt x="2106601" y="1132173"/>
                  <a:pt x="2082069" y="1132173"/>
                </a:cubicBezTo>
                <a:cubicBezTo>
                  <a:pt x="2055826" y="1132173"/>
                  <a:pt x="2035287" y="1131317"/>
                  <a:pt x="2020454" y="1129606"/>
                </a:cubicBezTo>
                <a:cubicBezTo>
                  <a:pt x="2005621" y="1127894"/>
                  <a:pt x="1995352" y="1123758"/>
                  <a:pt x="1989647" y="1117197"/>
                </a:cubicBezTo>
                <a:cubicBezTo>
                  <a:pt x="1983941" y="1110636"/>
                  <a:pt x="1981945" y="1101365"/>
                  <a:pt x="1983656" y="1089385"/>
                </a:cubicBezTo>
                <a:cubicBezTo>
                  <a:pt x="1985368" y="1077404"/>
                  <a:pt x="1989647" y="1061430"/>
                  <a:pt x="1996493" y="1041462"/>
                </a:cubicBezTo>
                <a:lnTo>
                  <a:pt x="2337941" y="59048"/>
                </a:lnTo>
                <a:cubicBezTo>
                  <a:pt x="2341365" y="49349"/>
                  <a:pt x="2345358" y="41504"/>
                  <a:pt x="2349922" y="35514"/>
                </a:cubicBezTo>
                <a:cubicBezTo>
                  <a:pt x="2354486" y="29524"/>
                  <a:pt x="2361760" y="24960"/>
                  <a:pt x="2371744" y="21822"/>
                </a:cubicBezTo>
                <a:cubicBezTo>
                  <a:pt x="2381728" y="18684"/>
                  <a:pt x="2395563" y="16687"/>
                  <a:pt x="2413249" y="15832"/>
                </a:cubicBezTo>
                <a:cubicBezTo>
                  <a:pt x="2430935" y="14976"/>
                  <a:pt x="2454325" y="14548"/>
                  <a:pt x="2483421" y="14548"/>
                </a:cubicBezTo>
                <a:close/>
                <a:moveTo>
                  <a:pt x="1090129" y="14548"/>
                </a:moveTo>
                <a:cubicBezTo>
                  <a:pt x="1112379" y="14548"/>
                  <a:pt x="1130635" y="15404"/>
                  <a:pt x="1144898" y="17115"/>
                </a:cubicBezTo>
                <a:cubicBezTo>
                  <a:pt x="1159161" y="18827"/>
                  <a:pt x="1170571" y="21109"/>
                  <a:pt x="1179129" y="23961"/>
                </a:cubicBezTo>
                <a:cubicBezTo>
                  <a:pt x="1187686" y="26814"/>
                  <a:pt x="1193676" y="30522"/>
                  <a:pt x="1197100" y="35086"/>
                </a:cubicBezTo>
                <a:cubicBezTo>
                  <a:pt x="1200523" y="39650"/>
                  <a:pt x="1202234" y="44785"/>
                  <a:pt x="1202234" y="50490"/>
                </a:cubicBezTo>
                <a:lnTo>
                  <a:pt x="1202234" y="456977"/>
                </a:lnTo>
                <a:lnTo>
                  <a:pt x="1616423" y="456977"/>
                </a:lnTo>
                <a:lnTo>
                  <a:pt x="1616423" y="50490"/>
                </a:lnTo>
                <a:cubicBezTo>
                  <a:pt x="1616423" y="44785"/>
                  <a:pt x="1618277" y="39650"/>
                  <a:pt x="1621985" y="35086"/>
                </a:cubicBezTo>
                <a:cubicBezTo>
                  <a:pt x="1625694" y="30522"/>
                  <a:pt x="1631684" y="26814"/>
                  <a:pt x="1639956" y="23961"/>
                </a:cubicBezTo>
                <a:cubicBezTo>
                  <a:pt x="1648229" y="21109"/>
                  <a:pt x="1659639" y="18827"/>
                  <a:pt x="1674187" y="17115"/>
                </a:cubicBezTo>
                <a:cubicBezTo>
                  <a:pt x="1688735" y="15404"/>
                  <a:pt x="1707134" y="14548"/>
                  <a:pt x="1729383" y="14548"/>
                </a:cubicBezTo>
                <a:cubicBezTo>
                  <a:pt x="1751063" y="14548"/>
                  <a:pt x="1769034" y="15404"/>
                  <a:pt x="1783296" y="17115"/>
                </a:cubicBezTo>
                <a:cubicBezTo>
                  <a:pt x="1797559" y="18827"/>
                  <a:pt x="1808969" y="21109"/>
                  <a:pt x="1817527" y="23961"/>
                </a:cubicBezTo>
                <a:cubicBezTo>
                  <a:pt x="1826085" y="26814"/>
                  <a:pt x="1832217" y="30522"/>
                  <a:pt x="1835926" y="35086"/>
                </a:cubicBezTo>
                <a:cubicBezTo>
                  <a:pt x="1839634" y="39650"/>
                  <a:pt x="1841488" y="44785"/>
                  <a:pt x="1841488" y="50490"/>
                </a:cubicBezTo>
                <a:lnTo>
                  <a:pt x="1841488" y="1096231"/>
                </a:lnTo>
                <a:cubicBezTo>
                  <a:pt x="1841488" y="1101936"/>
                  <a:pt x="1839634" y="1107070"/>
                  <a:pt x="1835926" y="1111635"/>
                </a:cubicBezTo>
                <a:cubicBezTo>
                  <a:pt x="1832217" y="1116199"/>
                  <a:pt x="1826085" y="1119907"/>
                  <a:pt x="1817527" y="1122759"/>
                </a:cubicBezTo>
                <a:cubicBezTo>
                  <a:pt x="1808969" y="1125612"/>
                  <a:pt x="1797559" y="1127894"/>
                  <a:pt x="1783296" y="1129606"/>
                </a:cubicBezTo>
                <a:cubicBezTo>
                  <a:pt x="1769034" y="1131317"/>
                  <a:pt x="1751063" y="1132173"/>
                  <a:pt x="1729383" y="1132173"/>
                </a:cubicBezTo>
                <a:cubicBezTo>
                  <a:pt x="1707134" y="1132173"/>
                  <a:pt x="1688735" y="1131317"/>
                  <a:pt x="1674187" y="1129606"/>
                </a:cubicBezTo>
                <a:cubicBezTo>
                  <a:pt x="1659639" y="1127894"/>
                  <a:pt x="1648229" y="1125612"/>
                  <a:pt x="1639956" y="1122759"/>
                </a:cubicBezTo>
                <a:cubicBezTo>
                  <a:pt x="1631684" y="1119907"/>
                  <a:pt x="1625694" y="1116199"/>
                  <a:pt x="1621985" y="1111635"/>
                </a:cubicBezTo>
                <a:cubicBezTo>
                  <a:pt x="1618277" y="1107070"/>
                  <a:pt x="1616423" y="1101936"/>
                  <a:pt x="1616423" y="1096231"/>
                </a:cubicBezTo>
                <a:lnTo>
                  <a:pt x="1616423" y="648667"/>
                </a:lnTo>
                <a:lnTo>
                  <a:pt x="1202234" y="648667"/>
                </a:lnTo>
                <a:lnTo>
                  <a:pt x="1202234" y="1096231"/>
                </a:lnTo>
                <a:cubicBezTo>
                  <a:pt x="1202234" y="1101936"/>
                  <a:pt x="1200523" y="1107070"/>
                  <a:pt x="1197100" y="1111635"/>
                </a:cubicBezTo>
                <a:cubicBezTo>
                  <a:pt x="1193676" y="1116199"/>
                  <a:pt x="1187686" y="1119907"/>
                  <a:pt x="1179129" y="1122759"/>
                </a:cubicBezTo>
                <a:cubicBezTo>
                  <a:pt x="1170571" y="1125612"/>
                  <a:pt x="1159161" y="1127894"/>
                  <a:pt x="1144898" y="1129606"/>
                </a:cubicBezTo>
                <a:cubicBezTo>
                  <a:pt x="1130635" y="1131317"/>
                  <a:pt x="1112379" y="1132173"/>
                  <a:pt x="1090129" y="1132173"/>
                </a:cubicBezTo>
                <a:cubicBezTo>
                  <a:pt x="1068450" y="1132173"/>
                  <a:pt x="1050336" y="1131317"/>
                  <a:pt x="1035788" y="1129606"/>
                </a:cubicBezTo>
                <a:cubicBezTo>
                  <a:pt x="1021240" y="1127894"/>
                  <a:pt x="1009688" y="1125612"/>
                  <a:pt x="1001130" y="1122759"/>
                </a:cubicBezTo>
                <a:cubicBezTo>
                  <a:pt x="992572" y="1119907"/>
                  <a:pt x="986440" y="1116199"/>
                  <a:pt x="982731" y="1111635"/>
                </a:cubicBezTo>
                <a:cubicBezTo>
                  <a:pt x="979023" y="1107070"/>
                  <a:pt x="977169" y="1101936"/>
                  <a:pt x="977169" y="1096231"/>
                </a:cubicBezTo>
                <a:lnTo>
                  <a:pt x="977169" y="50490"/>
                </a:lnTo>
                <a:cubicBezTo>
                  <a:pt x="977169" y="44785"/>
                  <a:pt x="979023" y="39650"/>
                  <a:pt x="982731" y="35086"/>
                </a:cubicBezTo>
                <a:cubicBezTo>
                  <a:pt x="986440" y="30522"/>
                  <a:pt x="992572" y="26814"/>
                  <a:pt x="1001130" y="23961"/>
                </a:cubicBezTo>
                <a:cubicBezTo>
                  <a:pt x="1009688" y="21109"/>
                  <a:pt x="1021240" y="18827"/>
                  <a:pt x="1035788" y="17115"/>
                </a:cubicBezTo>
                <a:cubicBezTo>
                  <a:pt x="1050336" y="15404"/>
                  <a:pt x="1068450" y="14548"/>
                  <a:pt x="1090129" y="14548"/>
                </a:cubicBezTo>
                <a:close/>
                <a:moveTo>
                  <a:pt x="6984318" y="0"/>
                </a:moveTo>
                <a:cubicBezTo>
                  <a:pt x="7068182" y="0"/>
                  <a:pt x="7142206" y="11125"/>
                  <a:pt x="7206388" y="33375"/>
                </a:cubicBezTo>
                <a:cubicBezTo>
                  <a:pt x="7270570" y="55625"/>
                  <a:pt x="7324198" y="89855"/>
                  <a:pt x="7367271" y="136066"/>
                </a:cubicBezTo>
                <a:cubicBezTo>
                  <a:pt x="7410344" y="182277"/>
                  <a:pt x="7442864" y="240612"/>
                  <a:pt x="7464828" y="311069"/>
                </a:cubicBezTo>
                <a:cubicBezTo>
                  <a:pt x="7486792" y="381527"/>
                  <a:pt x="7497775" y="464679"/>
                  <a:pt x="7497775" y="560524"/>
                </a:cubicBezTo>
                <a:cubicBezTo>
                  <a:pt x="7497775" y="652376"/>
                  <a:pt x="7486364" y="734529"/>
                  <a:pt x="7463544" y="806983"/>
                </a:cubicBezTo>
                <a:cubicBezTo>
                  <a:pt x="7440724" y="879438"/>
                  <a:pt x="7406778" y="940910"/>
                  <a:pt x="7361708" y="991400"/>
                </a:cubicBezTo>
                <a:cubicBezTo>
                  <a:pt x="7316639" y="1041890"/>
                  <a:pt x="7260871" y="1080399"/>
                  <a:pt x="7194408" y="1106928"/>
                </a:cubicBezTo>
                <a:cubicBezTo>
                  <a:pt x="7127944" y="1133456"/>
                  <a:pt x="7051067" y="1146721"/>
                  <a:pt x="6963780" y="1146721"/>
                </a:cubicBezTo>
                <a:cubicBezTo>
                  <a:pt x="6877633" y="1146721"/>
                  <a:pt x="6802469" y="1135453"/>
                  <a:pt x="6738287" y="1112918"/>
                </a:cubicBezTo>
                <a:cubicBezTo>
                  <a:pt x="6674104" y="1090383"/>
                  <a:pt x="6620619" y="1056010"/>
                  <a:pt x="6577831" y="1009799"/>
                </a:cubicBezTo>
                <a:cubicBezTo>
                  <a:pt x="6535043" y="963588"/>
                  <a:pt x="6502952" y="904825"/>
                  <a:pt x="6481558" y="833512"/>
                </a:cubicBezTo>
                <a:cubicBezTo>
                  <a:pt x="6460164" y="762198"/>
                  <a:pt x="6449467" y="677763"/>
                  <a:pt x="6449467" y="580206"/>
                </a:cubicBezTo>
                <a:cubicBezTo>
                  <a:pt x="6449467" y="490637"/>
                  <a:pt x="6460877" y="410053"/>
                  <a:pt x="6483697" y="338454"/>
                </a:cubicBezTo>
                <a:cubicBezTo>
                  <a:pt x="6506518" y="266855"/>
                  <a:pt x="6540463" y="205953"/>
                  <a:pt x="6585533" y="155749"/>
                </a:cubicBezTo>
                <a:cubicBezTo>
                  <a:pt x="6630603" y="105544"/>
                  <a:pt x="6686371" y="67035"/>
                  <a:pt x="6752834" y="40221"/>
                </a:cubicBezTo>
                <a:cubicBezTo>
                  <a:pt x="6819298" y="13407"/>
                  <a:pt x="6896460" y="0"/>
                  <a:pt x="6984318" y="0"/>
                </a:cubicBezTo>
                <a:close/>
              </a:path>
            </a:pathLst>
          </a:cu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FA3DC6-0415-460B-A411-8CFF86E82857}"/>
              </a:ext>
            </a:extLst>
          </p:cNvPr>
          <p:cNvSpPr/>
          <p:nvPr/>
        </p:nvSpPr>
        <p:spPr>
          <a:xfrm>
            <a:off x="167640" y="6325246"/>
            <a:ext cx="492981" cy="3200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14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374447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2872</TotalTime>
  <Words>872</Words>
  <Application>Microsoft Office PowerPoint</Application>
  <PresentationFormat>Widescreen</PresentationFormat>
  <Paragraphs>171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USER1</cp:lastModifiedBy>
  <cp:revision>22</cp:revision>
  <dcterms:created xsi:type="dcterms:W3CDTF">2026-07-12T14:05:40Z</dcterms:created>
  <dcterms:modified xsi:type="dcterms:W3CDTF">2026-07-15T18:06:24Z</dcterms:modified>
</cp:coreProperties>
</file>